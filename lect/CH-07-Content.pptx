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지금까지는 이미 정리된 표준 데이터를 가지고 각각의 기능을 연습했습니다. 이번 시간부터는 실제 엑셀이나 PDF 원자료를 처음 입력받는 단계부터 시작하여, 지금까지 만든 모든 기능을 연결한 첫 결과물인 리드문까지 완성해봅니다. 오늘부터는 각 차시에서 따로 연습했던 부품들이 실제로 하나로 이어지는 것을 직접 눈으로 확인하시게 될 겁니다.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pandas의 read_excel 함수를 사용하면 담당자가 정리한 엑셀 원자료를 그대로 데이터프레임으로 불러올 수 있습니다. sheet_name 인자로 시트 이름을 지정하면 필요한 데이터만 정확하게 읽어올 수 있습니다. 화면의 예시처럼 연월, 총거래액, 전월대비증감률, 전년동월대비증감률 같은 컬럼이 있는 "요약" 시트를 읽으면 이 정보가 바로 데이터프레임 형태로 들어옵니다.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엑셀처럼 정형화되지 않은 PDF 설명 보고서는 pdfplumber라는 라이브러리로 페이지별 텍스트를 추출합니다. pdf.pages를 순회하면서 각 페이지의 텍스트를 extract_text 함수로 뽑아 이어 붙이면 문서 전체의 텍스트를 하나의 문자열로 얻을 수 있습니다. 이렇게 추출된 텍스트는 이전 차시에서 배운 정제·표준화 과정을 거쳐 표준 데이터의 원문 필드로 활용됩니다.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배운 xlsx 읽기와 PDF 읽기를 확장자에 따라 알아서 분기하는 하나의 함수로 통합한 것이 load_input입니다. 확장자가 xlsx이면 첫 번째 시트를 읽어서 필수 계산지표 필드를 표준 형태로 매핑하고, PDF이면 페이지별 텍스트를 이어 붙여 원문 필드에 담습니다. 여기서 눈여겨보실 부분이 "이력" 시트를 처리하는 부분입니다. 만약 xlsx 파일에 "이력"이라는 이름의 시트가 있고 거기에 연월과 총거래액 두 컬럼만 있다면, 이전 차시에서 배운 derive_history_indicators 함수를 자동으로 호출해서 역대최대여부와 최근3개월증감률을 계산해 줍니다. 즉 담당자가 "이번 달이 역대 최대인지"를 직접 조사해서 입력할 필요 없이, 과거 실적 시트만 준비해두면 프로그램이 알아서 판단합니다. 다만 만약 담당자가 역대최대여부나 최근3개월증감률 열을 xlsx에 이미 직접 입력해두었다면, 그 값을 자동 계산 결과보다 우선해서 사용하도록 setdefault를 사용했습니다. 한 가지 더 기억할 점은, 이 load_input 함수는 계산지표, 즉 총거래액이나 증감률 같은 값이 xlsx에 이미 채워져 있다고 가정한다는 것입니다. 만약 원자료가 아직 집계도 되지 않은 개별 기록이라면, 계산을 전혀 하지 않고 그대로 읽기만 하는 또 다른 형태의 입력 함수가 필요한데, 이런 경우는 이전 차시에서 배운 표본 사업체 매출 데이터처럼 별도의 계산 단계와 조합해서 처리합니다.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리드문에 모든 숫자를 다 담을 수는 없으므로, 이전 차시에서 배운 필수·선택·참고 항목 구분 기준을 다시 떠올려 보겠습니다. 필수 항목은 총거래액이나 증감률처럼 제목과 리드문에 반드시 들어가야 하는 지표이고, 선택 항목은 품목별 비중이나 순위처럼 본문에서 부연 설명할 때 쓰는 지표이며, 참고 항목은 공표일자나 자료출처처럼 문맥 이해를 돕는 배경 정보입니다. 오늘은 이 중에서 필수 항목만 자동으로 골라내는 코드를 만들어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REQUIRED_FIELDS라는 목록에 미리 등록해둔 필수 항목명을 기준으로, 전체 계산지표 중에서 리드문 작성에 꼭 필요한 지표만 자동으로 걸러내는 함수가 select_core_indicators입니다. 딕셔너리 컴프리헨션 한 줄로, 계산지표 안의 항목 중 REQUIRED_FIELDS에 있는 이름과 일치하는 것만 남기는 방식입니다. 이렇게 선별된 핵심지표가 다음 소주제에서 만들 프롬프트의 재료가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제목은 독자의 시선을 가장 먼저 붙잡는 요소이므로, 글자 수 제한과 핵심 수치 포함 여부를 프롬프트에 명확한 조건으로 제시합니다. 화면 예시처럼 15자 내외, 핵심 수치나 증감 방향 포함, 과장된 수식어 금지라는 세 가지 조건을 명시하면 훨씬 일관된 품질의 제목 후보를 얻을 수 있습니다. 참고로 이전 차시에서 만든 제목후보 결과가 있다면 이 단계에서 참고 아이디어로 함께 활용할 수도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부제는 제목이 다 담지 못한 두 번째 핵심 정보를 보완하는 역할을 합니다. 제목과 내용이 중복되면 부제의 의미가 없어지므로, 프롬프트에서 "제목에서 다루지 않은" 지표를 사용하라고 명시적으로 지시하는 것이 중요합니다. 화면의 예시처럼 제목이 총거래액과 전년동월대비를 다뤘다면, 부제는 모바일쇼핑 비중처럼 또 다른 핵심 정보를 담게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리드문은 보도자료 전체의 핵심을 압축한 첫 문단으로, 기사 작성의 기본 원칙인 6하원칙, 즉 누가, 언제, 어디서, 무엇을, 어떻게, 왜에 따라 정보를 빠짐없이 담아야 합니다. 화면의 예시처럼 프롬프트 안에 누가, 언제, 무엇을, 어떻게, 특이사항 항목을 각각 명확히 구분해서 전달하면, AI가 이 요소들을 누락 없이 반영한 리드문을 만들어낼 가능성이 훨씬 높아집니다.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따로 배운 제목, 부제, 리드문 프롬프트를 build_headline_prompt라는 하나의 함수로 합쳤습니다. 이 함수는 핵심지표와 특이점 목록을 받아서, 세 가지를 한 번에 JSON 형식으로 요청하는 프롬프트 문자열을 만듭니다. 그리고 generate_headline_set 함수는 select_core_indicators로 핵심지표를 고르고, build_headline_prompt로 프롬프트를 만들고, client.messages.create로 API를 호출한 뒤, 이전 차시에서 만든 parse_json_response로 결과를 파싱하는 전 과정을 하나로 묶습니다. 여기서 model 인자에는 이전 차시에서 정의한 MODEL_NAME 상수를 그대로 재사용하고 있다는 점도 확인해 주세요. 표준 데이터 하나만 입력하면 제목, 부제, 리드문이 한 번에 생성되는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실제로 generate_headline_set 함수를 호출하면 이런 결과를 얻게 됩니다. 리드문을 자세히 보시면, 누가에 해당하는 통계청, 언제에 해당하는 2026년 1월, 무엇을에 해당하는 온라인쇼핑 거래액, 어떻게에 해당하는 수치와 증감률까지 6하원칙의 핵심 요소가 모두 담겨 있고, 특이사항인 역대 최대까지 자연스럽게 문장 안에 녹아 있는 것을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AI는 보통 여러 개의 후보를 생성하므로, 정해진 기준에 따라 가장 적합한 후보를 사람이 최종적으로 선택하는 절차가 필요합니다. 확인할 기준은 네 가지입니다. 핵심 수치가 정확하게 표현되었는지, 글자 수 조건을 지켰는지, 가장 특이한 사실이 제목이나 부제에 잘 드러나는지, 그리고 여러 후보 중 가장 간결하면서도 정보 손실이 없는지입니다. 이 선택 과정 자체는 프로그램으로 우선순위를 매길 수도 있지만, 최종 채택만큼은 담당자가 직접 확인하는 것이 원칙입니다.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이전 차시에서 만든 수치 검증 함수 verify_numbers를 리드문에도 똑같이 적용합니다. 제목, 부제, 리드문 모두 원본 계산지표에 없는 숫자가 포함되지 않았는지 이렇게 자동으로 재확인하는 과정을 반드시 거칩니다. 이 검증 하나만으로 AI가 숫자를 지어내는 환각을 사전에 걸러낼 수 있다는 것을 다시 한번 기억해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검증까지 마친 제목, 부제, 리드문을 "헤드라인"이라는 새로운 필드로 표준 데이터에 저장합니다. 이 결과는 다음 차시에서 본문을 작성할 때 문서의 시작 부분으로 그대로 이어 붙여 사용됩니다.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과정명 "AI를 활용한 통계 보도자료 작성(NLP+LLM)"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차시명 "Ch 07. 통계 보도자료 작성 실습1 (핵심지표 요약)"</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도입</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지금까지 여러 차시를 거치며 데이터 수집, 정제, NLP 분석, 요약, 통계 해석, 그래프 설명까지 보도자료의 재료를 모두 준비했습니다. 이제 이번 시간부터는 이 재료들을 실제로 조립해서 보도자료라는 완성된 글의 첫인상, 즉 제목과 부제, 리드문(첫 문단)을 만들어 볼 차례입니다. 엑셀이나 PDF 원자료를 직접 입력받는 단계부터 시작해서, 그중 정말 중요한 핵심지표만 골라내고, 6하원칙에 따라 빠짐없이 정보를 담은 리드문을 생성한 뒤, 그 안의 모든 숫자가 원본과 일치하는지 검증하는 과정까지 다룹니다.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학습내용, 학습목표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2235200"/>
          </a:xfrm>
          <a:prstGeom prst="rect">
            <a:avLst/>
          </a:prstGeom>
          <a:noFill/>
        </p:spPr>
        <p:txBody>
          <a:bodyPr wrap="square">
            <a:noAutofit/>
          </a:bodyPr>
          <a:lstStyle/>
          <a:p>
            <a:pPr>
              <a:spcAft>
                <a:spcPts val="600"/>
              </a:spcAft>
            </a:pPr>
            <a:r>
              <a:rPr sz="1600">
                <a:solidFill>
                  <a:srgbClr val="222222"/>
                </a:solidFill>
                <a:latin typeface="맑은 고딕"/>
              </a:rPr>
              <a:t>학습내용</a:t>
            </a:r>
          </a:p>
          <a:p>
            <a:pPr>
              <a:spcAft>
                <a:spcPts val="600"/>
              </a:spcAft>
            </a:pPr>
            <a:r>
              <a:rPr sz="1600">
                <a:solidFill>
                  <a:srgbClr val="222222"/>
                </a:solidFill>
                <a:latin typeface="맑은 고딕"/>
              </a:rPr>
              <a:t>1. 핵심지표 선정</a:t>
            </a:r>
          </a:p>
          <a:p>
            <a:pPr>
              <a:spcAft>
                <a:spcPts val="600"/>
              </a:spcAft>
            </a:pPr>
            <a:r>
              <a:rPr sz="1600">
                <a:solidFill>
                  <a:srgbClr val="222222"/>
                </a:solidFill>
                <a:latin typeface="맑은 고딕"/>
              </a:rPr>
              <a:t>2. 제목·부제·리드문 생성 프롬프트 설계</a:t>
            </a:r>
          </a:p>
          <a:p>
            <a:pPr>
              <a:spcAft>
                <a:spcPts val="600"/>
              </a:spcAft>
            </a:pPr>
            <a:r>
              <a:rPr sz="1600">
                <a:solidFill>
                  <a:srgbClr val="222222"/>
                </a:solidFill>
                <a:latin typeface="맑은 고딕"/>
              </a:rPr>
              <a:t>3. 보도자료 첫 문단 자동 생성</a:t>
            </a:r>
          </a:p>
          <a:p>
            <a:pPr>
              <a:spcAft>
                <a:spcPts val="600"/>
              </a:spcAft>
            </a:pPr>
            <a:r>
              <a:rPr sz="1600">
                <a:solidFill>
                  <a:srgbClr val="222222"/>
                </a:solidFill>
                <a:latin typeface="맑은 고딕"/>
              </a:rPr>
              <a:t>학습목표</a:t>
            </a:r>
          </a:p>
          <a:p>
            <a:pPr>
              <a:spcAft>
                <a:spcPts val="600"/>
              </a:spcAft>
            </a:pPr>
            <a:r>
              <a:rPr sz="1600">
                <a:solidFill>
                  <a:srgbClr val="222222"/>
                </a:solidFill>
                <a:latin typeface="맑은 고딕"/>
              </a:rPr>
              <a:t>1. xlsx 또는 PDF 원자료를 입력받아 표준 데이터로 변환할 수 있다.</a:t>
            </a:r>
          </a:p>
          <a:p>
            <a:pPr>
              <a:spcAft>
                <a:spcPts val="600"/>
              </a:spcAft>
            </a:pPr>
            <a:r>
              <a:rPr sz="1600">
                <a:solidFill>
                  <a:srgbClr val="222222"/>
                </a:solidFill>
                <a:latin typeface="맑은 고딕"/>
              </a:rPr>
              <a:t>2. 필수·선택·참고 기준에 따라 핵심지표를 자동으로 선정할 수 있다.</a:t>
            </a:r>
          </a:p>
          <a:p>
            <a:pPr>
              <a:spcAft>
                <a:spcPts val="600"/>
              </a:spcAft>
            </a:pPr>
            <a:r>
              <a:rPr sz="1600">
                <a:solidFill>
                  <a:srgbClr val="222222"/>
                </a:solidFill>
                <a:latin typeface="맑은 고딕"/>
              </a:rPr>
              <a:t>3. 6하원칙에 기반한 프롬프트로 제목·부제·리드문을 생성하고 검증할 수 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1. 핵심지표 선정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본격적인 보도자료 작성의 시작</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지금까지의 부품과 이번 차시의 역할</a:t>
            </a:r>
          </a:p>
          <a:p>
            <a:pPr>
              <a:spcAft>
                <a:spcPts val="600"/>
              </a:spcAft>
            </a:pPr>
            <a:r>
              <a:rPr sz="1600">
                <a:solidFill>
                  <a:srgbClr val="222222"/>
                </a:solidFill>
                <a:latin typeface="맑은 고딕"/>
              </a:rPr>
              <a:t>• 이전 차시: 데이터 수집·정제, NLP 분석, 요약, 통계 해석, 그래프 설명 등 재료를 준비</a:t>
            </a:r>
          </a:p>
          <a:p>
            <a:pPr>
              <a:spcAft>
                <a:spcPts val="600"/>
              </a:spcAft>
            </a:pPr>
            <a:r>
              <a:rPr sz="1600">
                <a:solidFill>
                  <a:srgbClr val="222222"/>
                </a:solidFill>
                <a:latin typeface="맑은 고딕"/>
              </a:rPr>
              <a:t>• 이번 차시: 이 재료들을 조립하여 실제 보도자료의 제목, 부제, 리드문(첫 문단)을 완성</a:t>
            </a:r>
          </a:p>
          <a:p>
            <a:pPr>
              <a:spcAft>
                <a:spcPts val="600"/>
              </a:spcAft>
            </a:pPr>
            <a:r>
              <a:rPr sz="1600">
                <a:solidFill>
                  <a:srgbClr val="222222"/>
                </a:solidFill>
                <a:latin typeface="맑은 고딕"/>
              </a:rPr>
              <a:t>• 목표: xlsx 또는 PDF 원자료를 직접 입력받아 처음부터 리드문까지 자동 생성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xlsx 원자료 읽어오기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openpyxl 및 pandas를 활용한 엑셀 읽기</a:t>
            </a:r>
          </a:p>
        </p:txBody>
      </p:sp>
      <p:sp>
        <p:nvSpPr>
          <p:cNvPr id="5" name="TextBox 4"/>
          <p:cNvSpPr txBox="1"/>
          <p:nvPr/>
        </p:nvSpPr>
        <p:spPr>
          <a:xfrm>
            <a:off x="457200" y="1828800"/>
            <a:ext cx="11277295" cy="12039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import pandas as pd</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df = pd.read_excel("data/온라인쇼핑동향_2026_01.xlsx", sheet_name="요약")</a:t>
            </a:r>
          </a:p>
          <a:p>
            <a:pPr>
              <a:spcAft>
                <a:spcPts val="0"/>
              </a:spcAft>
            </a:pPr>
            <a:r>
              <a:rPr sz="1100">
                <a:solidFill>
                  <a:srgbClr val="333333"/>
                </a:solidFill>
                <a:latin typeface="맑은 고딕"/>
              </a:rPr>
              <a:t>print(df.head())</a:t>
            </a:r>
          </a:p>
          <a:p>
            <a:pPr>
              <a:spcAft>
                <a:spcPts val="0"/>
              </a:spcAft>
            </a:pPr>
            <a:r>
              <a:rPr sz="1100">
                <a:solidFill>
                  <a:srgbClr val="333333"/>
                </a:solidFill>
                <a:latin typeface="맑은 고딕"/>
              </a:rPr>
              <a:t>#      연월     총거래액  전월대비증감률  전년동월대비증감률</a:t>
            </a:r>
          </a:p>
          <a:p>
            <a:pPr>
              <a:spcAft>
                <a:spcPts val="0"/>
              </a:spcAft>
            </a:pPr>
            <a:r>
              <a:rPr sz="1100">
                <a:solidFill>
                  <a:srgbClr val="333333"/>
                </a:solidFill>
                <a:latin typeface="맑은 고딕"/>
              </a:rPr>
              <a:t># 0  2026-01  201250        1.5           8.7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PDF 원자료에서 텍스트 추출하기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pdfplumber를 활용한 PDF 텍스트 추출</a:t>
            </a:r>
          </a:p>
        </p:txBody>
      </p:sp>
      <p:sp>
        <p:nvSpPr>
          <p:cNvPr id="5" name="TextBox 4"/>
          <p:cNvSpPr txBox="1"/>
          <p:nvPr/>
        </p:nvSpPr>
        <p:spPr>
          <a:xfrm>
            <a:off x="457200" y="1828800"/>
            <a:ext cx="11277295" cy="15595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import pdfplumber</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with pdfplumber.open("data/온라인쇼핑동향_설명자료.pdf") as pdf:</a:t>
            </a:r>
          </a:p>
          <a:p>
            <a:pPr>
              <a:spcAft>
                <a:spcPts val="0"/>
              </a:spcAft>
            </a:pPr>
            <a:r>
              <a:rPr sz="1100">
                <a:solidFill>
                  <a:srgbClr val="333333"/>
                </a:solidFill>
                <a:latin typeface="맑은 고딕"/>
              </a:rPr>
              <a:t>    full_text = ""</a:t>
            </a:r>
          </a:p>
          <a:p>
            <a:pPr>
              <a:spcAft>
                <a:spcPts val="0"/>
              </a:spcAft>
            </a:pPr>
            <a:r>
              <a:rPr sz="1100">
                <a:solidFill>
                  <a:srgbClr val="333333"/>
                </a:solidFill>
                <a:latin typeface="맑은 고딕"/>
              </a:rPr>
              <a:t>    for page in pdf.pages:</a:t>
            </a:r>
          </a:p>
          <a:p>
            <a:pPr>
              <a:spcAft>
                <a:spcPts val="0"/>
              </a:spcAft>
            </a:pPr>
            <a:r>
              <a:rPr sz="1100">
                <a:solidFill>
                  <a:srgbClr val="333333"/>
                </a:solidFill>
                <a:latin typeface="맑은 고딕"/>
              </a:rPr>
              <a:t>        full_text += page.extract_text() + "\n"</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print(full_text[:200])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load_input 함수로 xlsx/PDF 입력 통합</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65379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import os</a:t>
            </a:r>
          </a:p>
          <a:p>
            <a:pPr>
              <a:spcAft>
                <a:spcPts val="0"/>
              </a:spcAft>
            </a:pPr>
            <a:r>
              <a:rPr sz="1100">
                <a:solidFill>
                  <a:srgbClr val="333333"/>
                </a:solidFill>
                <a:latin typeface="맑은 고딕"/>
              </a:rPr>
              <a:t>import pandas as pd</a:t>
            </a:r>
          </a:p>
          <a:p>
            <a:pPr>
              <a:spcAft>
                <a:spcPts val="0"/>
              </a:spcAft>
            </a:pPr>
            <a:r>
              <a:rPr sz="1100">
                <a:solidFill>
                  <a:srgbClr val="333333"/>
                </a:solidFill>
                <a:latin typeface="맑은 고딕"/>
              </a:rPr>
              <a:t>import pdfplumber</a:t>
            </a:r>
          </a:p>
          <a:p>
            <a:pPr>
              <a:spcAft>
                <a:spcPts val="0"/>
              </a:spcAft>
            </a:pPr>
            <a:r>
              <a:rPr sz="1100">
                <a:solidFill>
                  <a:srgbClr val="333333"/>
                </a:solidFill>
                <a:latin typeface="맑은 고딕"/>
              </a:rPr>
              <a:t>from modules.config import REQUIRED_FIELDS</a:t>
            </a:r>
          </a:p>
          <a:p>
            <a:pPr>
              <a:spcAft>
                <a:spcPts val="0"/>
              </a:spcAft>
            </a:pPr>
            <a:r>
              <a:rPr sz="1100">
                <a:solidFill>
                  <a:srgbClr val="333333"/>
                </a:solidFill>
                <a:latin typeface="맑은 고딕"/>
              </a:rPr>
              <a:t>from modules.stats import derive_history_indicators</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load_input(파일경로: str) -&gt; dict:</a:t>
            </a:r>
          </a:p>
          <a:p>
            <a:pPr>
              <a:spcAft>
                <a:spcPts val="0"/>
              </a:spcAft>
            </a:pPr>
            <a:r>
              <a:rPr sz="1100">
                <a:solidFill>
                  <a:srgbClr val="333333"/>
                </a:solidFill>
                <a:latin typeface="맑은 고딕"/>
              </a:rPr>
              <a:t>    """확장자에 따라 xlsx 또는 PDF 원자료를 읽어 raw dict로 반환한다."""</a:t>
            </a:r>
          </a:p>
          <a:p>
            <a:pPr>
              <a:spcAft>
                <a:spcPts val="0"/>
              </a:spcAft>
            </a:pPr>
            <a:r>
              <a:rPr sz="1100">
                <a:solidFill>
                  <a:srgbClr val="333333"/>
                </a:solidFill>
                <a:latin typeface="맑은 고딕"/>
              </a:rPr>
              <a:t>    확장자 = os.path.splitext(파일경로)[1].lower()</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if 확장자 == ".xlsx":</a:t>
            </a:r>
          </a:p>
          <a:p>
            <a:pPr>
              <a:spcAft>
                <a:spcPts val="0"/>
              </a:spcAft>
            </a:pPr>
            <a:r>
              <a:rPr sz="1100">
                <a:solidFill>
                  <a:srgbClr val="333333"/>
                </a:solidFill>
                <a:latin typeface="맑은 고딕"/>
              </a:rPr>
              <a:t>        엑셀 = pd.ExcelFile(파일경로)</a:t>
            </a:r>
          </a:p>
          <a:p>
            <a:pPr>
              <a:spcAft>
                <a:spcPts val="0"/>
              </a:spcAft>
            </a:pPr>
            <a:r>
              <a:rPr sz="1100">
                <a:solidFill>
                  <a:srgbClr val="333333"/>
                </a:solidFill>
                <a:latin typeface="맑은 고딕"/>
              </a:rPr>
              <a:t>        df = pd.read_excel(엑셀, sheet_name=엑셀.sheet_names[0])</a:t>
            </a:r>
          </a:p>
          <a:p>
            <a:pPr>
              <a:spcAft>
                <a:spcPts val="0"/>
              </a:spcAft>
            </a:pPr>
            <a:r>
              <a:rPr sz="1100">
                <a:solidFill>
                  <a:srgbClr val="333333"/>
                </a:solidFill>
                <a:latin typeface="맑은 고딕"/>
              </a:rPr>
              <a:t>        row = df.iloc[0].to_dict()</a:t>
            </a:r>
          </a:p>
          <a:p>
            <a:pPr>
              <a:spcAft>
                <a:spcPts val="0"/>
              </a:spcAft>
            </a:pPr>
            <a:r>
              <a:rPr sz="1100">
                <a:solidFill>
                  <a:srgbClr val="333333"/>
                </a:solidFill>
                <a:latin typeface="맑은 고딕"/>
              </a:rPr>
              <a:t>        raw = {</a:t>
            </a:r>
          </a:p>
          <a:p>
            <a:pPr>
              <a:spcAft>
                <a:spcPts val="0"/>
              </a:spcAft>
            </a:pPr>
            <a:r>
              <a:rPr sz="1100">
                <a:solidFill>
                  <a:srgbClr val="333333"/>
                </a:solidFill>
                <a:latin typeface="맑은 고딕"/>
              </a:rPr>
              <a:t>            "제목": f"{row.get('연월', '')} 온라인쇼핑 동향",</a:t>
            </a:r>
          </a:p>
          <a:p>
            <a:pPr>
              <a:spcAft>
                <a:spcPts val="0"/>
              </a:spcAft>
            </a:pPr>
            <a:r>
              <a:rPr sz="1100">
                <a:solidFill>
                  <a:srgbClr val="333333"/>
                </a:solidFill>
                <a:latin typeface="맑은 고딕"/>
              </a:rPr>
              <a:t>            "계산지표": {field: row[field] for field in REQUIRED_FIELDS},</a:t>
            </a:r>
          </a:p>
          <a:p>
            <a:pPr>
              <a:spcAft>
                <a:spcPts val="0"/>
              </a:spcAft>
            </a:pPr>
            <a:r>
              <a:rPr sz="1100">
                <a:solidFill>
                  <a:srgbClr val="333333"/>
                </a:solidFill>
                <a:latin typeface="맑은 고딕"/>
              </a:rPr>
              <a:t>            "원문": row.get("원문",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if "품목별지표" in df.columns:</a:t>
            </a:r>
          </a:p>
          <a:p>
            <a:pPr>
              <a:spcAft>
                <a:spcPts val="0"/>
              </a:spcAft>
            </a:pPr>
            <a:r>
              <a:rPr sz="1100">
                <a:solidFill>
                  <a:srgbClr val="333333"/>
                </a:solidFill>
                <a:latin typeface="맑은 고딕"/>
              </a:rPr>
              <a:t>            raw["품목별지표"] = row["품목별지표"]  # 실제 코드는 JSON 문자열이면 파싱까지 처리</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if "이력" in 엑셀.sheet_names:</a:t>
            </a:r>
          </a:p>
          <a:p>
            <a:pPr>
              <a:spcAft>
                <a:spcPts val="0"/>
              </a:spcAft>
            </a:pPr>
            <a:r>
              <a:rPr sz="1100">
                <a:solidFill>
                  <a:srgbClr val="333333"/>
                </a:solidFill>
                <a:latin typeface="맑은 고딕"/>
              </a:rPr>
              <a:t>            이력_df = pd.read_excel(엑셀, sheet_name="이력")</a:t>
            </a:r>
          </a:p>
          <a:p>
            <a:pPr>
              <a:spcAft>
                <a:spcPts val="0"/>
              </a:spcAft>
            </a:pPr>
            <a:r>
              <a:rPr sz="1100">
                <a:solidFill>
                  <a:srgbClr val="333333"/>
                </a:solidFill>
                <a:latin typeface="맑은 고딕"/>
              </a:rPr>
              <a:t>            history = [{"연월": str(r["연월"]), "값": r[REQUIRED_FIELDS[0]]} for _, r in 이력_df.iterrows()]</a:t>
            </a:r>
          </a:p>
          <a:p>
            <a:pPr>
              <a:spcAft>
                <a:spcPts val="0"/>
              </a:spcAft>
            </a:pPr>
            <a:r>
              <a:rPr sz="1100">
                <a:solidFill>
                  <a:srgbClr val="333333"/>
                </a:solidFill>
                <a:latin typeface="맑은 고딕"/>
              </a:rPr>
              <a:t>            raw["월별이력"] = history + [{"연월": str(row.get("연월", "")), "값": row[REQUIRED_FIELDS[0]]}]</a:t>
            </a:r>
          </a:p>
          <a:p>
            <a:pPr>
              <a:spcAft>
                <a:spcPts val="0"/>
              </a:spcAft>
            </a:pPr>
            <a:r>
              <a:rPr sz="1100">
                <a:solidFill>
                  <a:srgbClr val="333333"/>
                </a:solidFill>
                <a:latin typeface="맑은 고딕"/>
              </a:rPr>
              <a:t>            계산됨 = derive_history_indicators(history, str(row.get("연월", "")), row[REQUIRED_FIELDS[0]])</a:t>
            </a:r>
          </a:p>
          <a:p>
            <a:pPr>
              <a:spcAft>
                <a:spcPts val="0"/>
              </a:spcAft>
            </a:pPr>
            <a:r>
              <a:rPr sz="1100">
                <a:solidFill>
                  <a:srgbClr val="333333"/>
                </a:solidFill>
                <a:latin typeface="맑은 고딕"/>
              </a:rPr>
              <a:t>            raw.setdefault("역대최대여부", 계산됨["역대최대여부"])</a:t>
            </a:r>
          </a:p>
          <a:p>
            <a:pPr>
              <a:spcAft>
                <a:spcPts val="0"/>
              </a:spcAft>
            </a:pPr>
            <a:r>
              <a:rPr sz="1100">
                <a:solidFill>
                  <a:srgbClr val="333333"/>
                </a:solidFill>
                <a:latin typeface="맑은 고딕"/>
              </a:rPr>
              <a:t>            raw.setdefault("최근3개월증감률", 계산됨["최근3개월증감률"])</a:t>
            </a:r>
          </a:p>
          <a:p>
            <a:pPr>
              <a:spcAft>
                <a:spcPts val="0"/>
              </a:spcAft>
            </a:pPr>
            <a:r>
              <a:rPr sz="1100">
                <a:solidFill>
                  <a:srgbClr val="333333"/>
                </a:solidFill>
                <a:latin typeface="맑은 고딕"/>
              </a:rPr>
              <a:t>        return raw</a:t>
            </a:r>
          </a:p>
          <a:p>
            <a:pPr>
              <a:spcAft>
                <a:spcPts val="0"/>
              </a:spcAft>
            </a:pPr>
            <a:r>
              <a:rPr sz="1100">
                <a:solidFill>
                  <a:srgbClr val="333333"/>
                </a:solidFill>
                <a:latin typeface="맑은 고딕"/>
              </a:rPr>
              <a:t>    elif 확장자 == ".pdf":</a:t>
            </a:r>
          </a:p>
          <a:p>
            <a:pPr>
              <a:spcAft>
                <a:spcPts val="0"/>
              </a:spcAft>
            </a:pPr>
            <a:r>
              <a:rPr sz="1100">
                <a:solidFill>
                  <a:srgbClr val="333333"/>
                </a:solidFill>
                <a:latin typeface="맑은 고딕"/>
              </a:rPr>
              <a:t>        with pdfplumber.open(파일경로) as pdf:</a:t>
            </a:r>
          </a:p>
          <a:p>
            <a:pPr>
              <a:spcAft>
                <a:spcPts val="0"/>
              </a:spcAft>
            </a:pPr>
            <a:r>
              <a:rPr sz="1100">
                <a:solidFill>
                  <a:srgbClr val="333333"/>
                </a:solidFill>
                <a:latin typeface="맑은 고딕"/>
              </a:rPr>
              <a:t>            full_text = "\n".join(page.extract_text() or "" for page in pdf.pages)</a:t>
            </a:r>
          </a:p>
          <a:p>
            <a:pPr>
              <a:spcAft>
                <a:spcPts val="0"/>
              </a:spcAft>
            </a:pPr>
            <a:r>
              <a:rPr sz="1100">
                <a:solidFill>
                  <a:srgbClr val="333333"/>
                </a:solidFill>
                <a:latin typeface="맑은 고딕"/>
              </a:rPr>
              <a:t>        return {"원문": full_text}</a:t>
            </a:r>
          </a:p>
          <a:p>
            <a:pPr>
              <a:spcAft>
                <a:spcPts val="0"/>
              </a:spcAft>
            </a:pPr>
            <a:r>
              <a:rPr sz="1100">
                <a:solidFill>
                  <a:srgbClr val="333333"/>
                </a:solidFill>
                <a:latin typeface="맑은 고딕"/>
              </a:rPr>
              <a:t>    else:</a:t>
            </a:r>
          </a:p>
          <a:p>
            <a:pPr>
              <a:spcAft>
                <a:spcPts val="0"/>
              </a:spcAft>
            </a:pPr>
            <a:r>
              <a:rPr sz="1100">
                <a:solidFill>
                  <a:srgbClr val="333333"/>
                </a:solidFill>
                <a:latin typeface="맑은 고딕"/>
              </a:rPr>
              <a:t>        raise ValueError(f"지원하지 않는 파일 형식입니다: {확장자}")</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핵심지표 선정 기준 복습, 필수·선택·참고</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117600"/>
          </a:xfrm>
          <a:prstGeom prst="rect">
            <a:avLst/>
          </a:prstGeom>
          <a:noFill/>
        </p:spPr>
        <p:txBody>
          <a:bodyPr wrap="square">
            <a:noAutofit/>
          </a:bodyPr>
          <a:lstStyle/>
          <a:p>
            <a:pPr>
              <a:spcAft>
                <a:spcPts val="600"/>
              </a:spcAft>
            </a:pPr>
            <a:r>
              <a:rPr sz="1600">
                <a:solidFill>
                  <a:srgbClr val="222222"/>
                </a:solidFill>
                <a:latin typeface="맑은 고딕"/>
              </a:rPr>
              <a:t>핵심지표 선정 3단계 기준 (이전 차시 복습)</a:t>
            </a:r>
          </a:p>
          <a:p>
            <a:pPr>
              <a:spcAft>
                <a:spcPts val="600"/>
              </a:spcAft>
            </a:pPr>
            <a:r>
              <a:rPr sz="1600">
                <a:solidFill>
                  <a:srgbClr val="222222"/>
                </a:solidFill>
                <a:latin typeface="맑은 고딕"/>
              </a:rPr>
              <a:t>• 필수 항목: 제목과 리드문에 반드시 포함 (예: 총거래액, 전월대비·전년동월대비증감률)</a:t>
            </a:r>
          </a:p>
          <a:p>
            <a:pPr>
              <a:spcAft>
                <a:spcPts val="600"/>
              </a:spcAft>
            </a:pPr>
            <a:r>
              <a:rPr sz="1600">
                <a:solidFill>
                  <a:srgbClr val="222222"/>
                </a:solidFill>
                <a:latin typeface="맑은 고딕"/>
              </a:rPr>
              <a:t>• 선택 항목: 본문 부연 설명에 활용 (예: 품목별 비중, 순위)</a:t>
            </a:r>
          </a:p>
          <a:p>
            <a:pPr>
              <a:spcAft>
                <a:spcPts val="600"/>
              </a:spcAft>
            </a:pPr>
            <a:r>
              <a:rPr sz="1600">
                <a:solidFill>
                  <a:srgbClr val="222222"/>
                </a:solidFill>
                <a:latin typeface="맑은 고딕"/>
              </a:rPr>
              <a:t>• 참고 항목: 문맥 이해용 배경 정보 (예: 공표일자, 자료출처)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핵심지표 자동 선정 로직</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필수 항목만 추출하는 함수</a:t>
            </a:r>
          </a:p>
        </p:txBody>
      </p:sp>
      <p:sp>
        <p:nvSpPr>
          <p:cNvPr id="5" name="TextBox 4"/>
          <p:cNvSpPr txBox="1"/>
          <p:nvPr/>
        </p:nvSpPr>
        <p:spPr>
          <a:xfrm>
            <a:off x="457200" y="1828800"/>
            <a:ext cx="11277295" cy="13817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REQUIRED_FIELDS = ["총거래액", "전월대비증감률", "전년동월대비증감률"]</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select_core_indicators(계산지표: dict) -&gt; dict:</a:t>
            </a:r>
          </a:p>
          <a:p>
            <a:pPr>
              <a:spcAft>
                <a:spcPts val="0"/>
              </a:spcAft>
            </a:pPr>
            <a:r>
              <a:rPr sz="1100">
                <a:solidFill>
                  <a:srgbClr val="333333"/>
                </a:solidFill>
                <a:latin typeface="맑은 고딕"/>
              </a:rPr>
              <a:t>    return {k: v for k, v in 계산지표.items() if k in REQUIRED_FIELDS}</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core = select_core_indicators(data["계산지표"])</a:t>
            </a:r>
          </a:p>
          <a:p>
            <a:pPr>
              <a:spcAft>
                <a:spcPts val="0"/>
              </a:spcAft>
            </a:pPr>
            <a:r>
              <a:rPr sz="1100">
                <a:solidFill>
                  <a:srgbClr val="333333"/>
                </a:solidFill>
                <a:latin typeface="맑은 고딕"/>
              </a:rPr>
              <a:t>print(core)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2. 제목·부제·리드문 생성 프롬프트 설계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제목 생성 프롬프트 설계</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제목 생성 프롬프트 예시</a:t>
            </a:r>
          </a:p>
        </p:txBody>
      </p:sp>
      <p:sp>
        <p:nvSpPr>
          <p:cNvPr id="5" name="TextBox 4"/>
          <p:cNvSpPr txBox="1"/>
          <p:nvPr/>
        </p:nvSpPr>
        <p:spPr>
          <a:xfrm>
            <a:off x="457200" y="1828800"/>
            <a:ext cx="11277295" cy="8483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아래 핵심지표를 바탕으로 통계 보도자료 제목을 3개 작성해 주세요.</a:t>
            </a:r>
          </a:p>
          <a:p>
            <a:pPr>
              <a:spcAft>
                <a:spcPts val="0"/>
              </a:spcAft>
            </a:pPr>
            <a:r>
              <a:rPr sz="1100">
                <a:solidFill>
                  <a:srgbClr val="333333"/>
                </a:solidFill>
                <a:latin typeface="맑은 고딕"/>
              </a:rPr>
              <a:t>조건: 15자 내외, 핵심 수치 또는 증감 방향을 포함, 과장된 수식어 금지</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핵심지표: 총거래액 201,250억 원, 전년동월대비 8.7% 증가, 역대 최대치 경신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부제 생성 프롬프트 설계</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부제 생성 프롬프트 예시</a:t>
            </a:r>
          </a:p>
        </p:txBody>
      </p:sp>
      <p:sp>
        <p:nvSpPr>
          <p:cNvPr id="5" name="TextBox 4"/>
          <p:cNvSpPr txBox="1"/>
          <p:nvPr/>
        </p:nvSpPr>
        <p:spPr>
          <a:xfrm>
            <a:off x="457200" y="1828800"/>
            <a:ext cx="11277295" cy="8483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위 제목을 보완하는 부제를 1개 작성해 주세요.</a:t>
            </a:r>
          </a:p>
          <a:p>
            <a:pPr>
              <a:spcAft>
                <a:spcPts val="0"/>
              </a:spcAft>
            </a:pPr>
            <a:r>
              <a:rPr sz="1100">
                <a:solidFill>
                  <a:srgbClr val="333333"/>
                </a:solidFill>
                <a:latin typeface="맑은 고딕"/>
              </a:rPr>
              <a:t>조건: 제목에서 다루지 않은 두 번째로 중요한 지표를 포함, 25자 내외</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핵심지표: 모바일쇼핑 비중 78%, 전월대비 1.5% 증가</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리드문(6하원칙) 생성 프롬프트 설계</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리드문 생성 프롬프트 예시</a:t>
            </a:r>
          </a:p>
        </p:txBody>
      </p:sp>
      <p:sp>
        <p:nvSpPr>
          <p:cNvPr id="5" name="TextBox 4"/>
          <p:cNvSpPr txBox="1"/>
          <p:nvPr/>
        </p:nvSpPr>
        <p:spPr>
          <a:xfrm>
            <a:off x="457200" y="1828800"/>
            <a:ext cx="11277295" cy="12039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아래 정보를 바탕으로 6하원칙(누가, 언제, 어디서, 무엇을, 어떻게, 왜)에 따라</a:t>
            </a:r>
          </a:p>
          <a:p>
            <a:pPr>
              <a:spcAft>
                <a:spcPts val="0"/>
              </a:spcAft>
            </a:pPr>
            <a:r>
              <a:rPr sz="1100">
                <a:solidFill>
                  <a:srgbClr val="333333"/>
                </a:solidFill>
                <a:latin typeface="맑은 고딕"/>
              </a:rPr>
              <a:t>보도자료의 첫 문단(리드문)을 3~4문장으로 작성해 주세요.</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누가: 통계청 / 언제: 2026년 1월 / 무엇을: 온라인쇼핑 거래액</a:t>
            </a:r>
          </a:p>
          <a:p>
            <a:pPr>
              <a:spcAft>
                <a:spcPts val="0"/>
              </a:spcAft>
            </a:pPr>
            <a:r>
              <a:rPr sz="1100">
                <a:solidFill>
                  <a:srgbClr val="333333"/>
                </a:solidFill>
                <a:latin typeface="맑은 고딕"/>
              </a:rPr>
              <a:t>어떻게: 201,250억 원, 전월대비 1.5%·전년동월대비 8.7% 증가</a:t>
            </a:r>
          </a:p>
          <a:p>
            <a:pPr>
              <a:spcAft>
                <a:spcPts val="0"/>
              </a:spcAft>
            </a:pPr>
            <a:r>
              <a:rPr sz="1100">
                <a:solidFill>
                  <a:srgbClr val="333333"/>
                </a:solidFill>
                <a:latin typeface="맑은 고딕"/>
              </a:rPr>
              <a:t>특이사항: 역대 1월 기준 최대치 경신</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제목·부제·리드문 생성 API 호출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통합 생성 함수</a:t>
            </a:r>
          </a:p>
        </p:txBody>
      </p:sp>
      <p:sp>
        <p:nvSpPr>
          <p:cNvPr id="5" name="TextBox 4"/>
          <p:cNvSpPr txBox="1"/>
          <p:nvPr/>
        </p:nvSpPr>
        <p:spPr>
          <a:xfrm>
            <a:off x="457200" y="1828800"/>
            <a:ext cx="11277295" cy="51155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build_headline_prompt(core: dict, special_points: list) -&gt; str:</a:t>
            </a:r>
          </a:p>
          <a:p>
            <a:pPr>
              <a:spcAft>
                <a:spcPts val="0"/>
              </a:spcAft>
            </a:pPr>
            <a:r>
              <a:rPr sz="1100">
                <a:solidFill>
                  <a:srgbClr val="333333"/>
                </a:solidFill>
                <a:latin typeface="맑은 고딕"/>
              </a:rPr>
              <a:t>    """핵심지표와 특이점 목록을 바탕으로 제목·부제·리드문 생성 프롬프트를 만든다."""</a:t>
            </a:r>
          </a:p>
          <a:p>
            <a:pPr>
              <a:spcAft>
                <a:spcPts val="0"/>
              </a:spcAft>
            </a:pPr>
            <a:r>
              <a:rPr sz="1100">
                <a:solidFill>
                  <a:srgbClr val="333333"/>
                </a:solidFill>
                <a:latin typeface="맑은 고딕"/>
              </a:rPr>
              <a:t>    지표문장 = ", ".join(f"{k} {v}" for k, v in core.items())</a:t>
            </a:r>
          </a:p>
          <a:p>
            <a:pPr>
              <a:spcAft>
                <a:spcPts val="0"/>
              </a:spcAft>
            </a:pPr>
            <a:r>
              <a:rPr sz="1100">
                <a:solidFill>
                  <a:srgbClr val="333333"/>
                </a:solidFill>
                <a:latin typeface="맑은 고딕"/>
              </a:rPr>
              <a:t>    특이점문장 = ", ".join(special_points)</a:t>
            </a:r>
          </a:p>
          <a:p>
            <a:pPr>
              <a:spcAft>
                <a:spcPts val="0"/>
              </a:spcAft>
            </a:pPr>
            <a:r>
              <a:rPr sz="1100">
                <a:solidFill>
                  <a:srgbClr val="333333"/>
                </a:solidFill>
                <a:latin typeface="맑은 고딕"/>
              </a:rPr>
              <a:t>    return f"""아래 정보를 바탕으로 다음 3가지를 JSON으로 작성해 주세요.</a:t>
            </a:r>
          </a:p>
          <a:p>
            <a:pPr>
              <a:spcAft>
                <a:spcPts val="0"/>
              </a:spcAft>
            </a:pPr>
            <a:r>
              <a:rPr sz="1100">
                <a:solidFill>
                  <a:srgbClr val="333333"/>
                </a:solidFill>
                <a:latin typeface="맑은 고딕"/>
              </a:rPr>
              <a:t>1) 제목(15자 내외, 핵심 수치 또는 증감 방향 포함)</a:t>
            </a:r>
          </a:p>
          <a:p>
            <a:pPr>
              <a:spcAft>
                <a:spcPts val="0"/>
              </a:spcAft>
            </a:pPr>
            <a:r>
              <a:rPr sz="1100">
                <a:solidFill>
                  <a:srgbClr val="333333"/>
                </a:solidFill>
                <a:latin typeface="맑은 고딕"/>
              </a:rPr>
              <a:t>2) 부제(제목과 중복되지 않는 두 번째 정보, 25자 내외)</a:t>
            </a:r>
          </a:p>
          <a:p>
            <a:pPr>
              <a:spcAft>
                <a:spcPts val="0"/>
              </a:spcAft>
            </a:pPr>
            <a:r>
              <a:rPr sz="1100">
                <a:solidFill>
                  <a:srgbClr val="333333"/>
                </a:solidFill>
                <a:latin typeface="맑은 고딕"/>
              </a:rPr>
              <a:t>3) 리드문(6하원칙에 따라 3~4문장)</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핵심지표: {지표문장}</a:t>
            </a:r>
          </a:p>
          <a:p>
            <a:pPr>
              <a:spcAft>
                <a:spcPts val="0"/>
              </a:spcAft>
            </a:pPr>
            <a:r>
              <a:rPr sz="1100">
                <a:solidFill>
                  <a:srgbClr val="333333"/>
                </a:solidFill>
                <a:latin typeface="맑은 고딕"/>
              </a:rPr>
              <a:t>특이사항: {특이점문장}</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결과는 반드시 아래 JSON 형식으로만 출력하십시오.</a:t>
            </a:r>
          </a:p>
          <a:p>
            <a:pPr>
              <a:spcAft>
                <a:spcPts val="0"/>
              </a:spcAft>
            </a:pPr>
            <a:r>
              <a:rPr sz="1100">
                <a:solidFill>
                  <a:srgbClr val="333333"/>
                </a:solidFill>
                <a:latin typeface="맑은 고딕"/>
              </a:rPr>
              <a:t>{{"제목": "...", "부제": "...", "리드문":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generate_headline_set(data: dict) -&gt; dict:</a:t>
            </a:r>
          </a:p>
          <a:p>
            <a:pPr>
              <a:spcAft>
                <a:spcPts val="0"/>
              </a:spcAft>
            </a:pPr>
            <a:r>
              <a:rPr sz="1100">
                <a:solidFill>
                  <a:srgbClr val="333333"/>
                </a:solidFill>
                <a:latin typeface="맑은 고딕"/>
              </a:rPr>
              <a:t>    core = select_core_indicators(data["계산지표"])</a:t>
            </a:r>
          </a:p>
          <a:p>
            <a:pPr>
              <a:spcAft>
                <a:spcPts val="0"/>
              </a:spcAft>
            </a:pPr>
            <a:r>
              <a:rPr sz="1100">
                <a:solidFill>
                  <a:srgbClr val="333333"/>
                </a:solidFill>
                <a:latin typeface="맑은 고딕"/>
              </a:rPr>
              <a:t>    prompt = build_headline_prompt(core, data["통계해석결과"]["특이점목록"])</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message = client.messages.create(</a:t>
            </a:r>
          </a:p>
          <a:p>
            <a:pPr>
              <a:spcAft>
                <a:spcPts val="0"/>
              </a:spcAft>
            </a:pPr>
            <a:r>
              <a:rPr sz="1100">
                <a:solidFill>
                  <a:srgbClr val="333333"/>
                </a:solidFill>
                <a:latin typeface="맑은 고딕"/>
              </a:rPr>
              <a:t>        model=MODEL_NAME, max_tokens=600,</a:t>
            </a:r>
          </a:p>
          <a:p>
            <a:pPr>
              <a:spcAft>
                <a:spcPts val="0"/>
              </a:spcAft>
            </a:pPr>
            <a:r>
              <a:rPr sz="1100">
                <a:solidFill>
                  <a:srgbClr val="333333"/>
                </a:solidFill>
                <a:latin typeface="맑은 고딕"/>
              </a:rPr>
              <a:t>        system="통계청 보도자료 작성 담당자로서 제공된 사실만 사용하여 "</a:t>
            </a:r>
          </a:p>
          <a:p>
            <a:pPr>
              <a:spcAft>
                <a:spcPts val="0"/>
              </a:spcAft>
            </a:pPr>
            <a:r>
              <a:rPr sz="1100">
                <a:solidFill>
                  <a:srgbClr val="333333"/>
                </a:solidFill>
                <a:latin typeface="맑은 고딕"/>
              </a:rPr>
              <a:t>               "JSON 형식으로 답하십시오.",</a:t>
            </a:r>
          </a:p>
          <a:p>
            <a:pPr>
              <a:spcAft>
                <a:spcPts val="0"/>
              </a:spcAft>
            </a:pPr>
            <a:r>
              <a:rPr sz="1100">
                <a:solidFill>
                  <a:srgbClr val="333333"/>
                </a:solidFill>
                <a:latin typeface="맑은 고딕"/>
              </a:rPr>
              <a:t>        messages=[{"role": "user", "content": prompt}]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return parse_json_response(message.content[0].text)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headline_set = generate_headline_set(data)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3. 보도자료 첫 문단 자동 생성</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생성 결과 예시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제목·부제·리드문 생성 결과</a:t>
            </a:r>
          </a:p>
        </p:txBody>
      </p:sp>
      <p:sp>
        <p:nvSpPr>
          <p:cNvPr id="5" name="TextBox 4"/>
          <p:cNvSpPr txBox="1"/>
          <p:nvPr/>
        </p:nvSpPr>
        <p:spPr>
          <a:xfrm>
            <a:off x="457200" y="1828800"/>
            <a:ext cx="11277295" cy="1026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a:t>
            </a:r>
          </a:p>
          <a:p>
            <a:pPr>
              <a:spcAft>
                <a:spcPts val="0"/>
              </a:spcAft>
            </a:pPr>
            <a:r>
              <a:rPr sz="1100">
                <a:solidFill>
                  <a:srgbClr val="333333"/>
                </a:solidFill>
                <a:latin typeface="맑은 고딕"/>
              </a:rPr>
              <a:t>  "제목": "1월 온라인쇼핑 거래액, 역대 최대",</a:t>
            </a:r>
          </a:p>
          <a:p>
            <a:pPr>
              <a:spcAft>
                <a:spcPts val="0"/>
              </a:spcAft>
            </a:pPr>
            <a:r>
              <a:rPr sz="1100">
                <a:solidFill>
                  <a:srgbClr val="333333"/>
                </a:solidFill>
                <a:latin typeface="맑은 고딕"/>
              </a:rPr>
              <a:t>  "부제": "모바일쇼핑 비중 78%로 지속 확대",</a:t>
            </a:r>
          </a:p>
          <a:p>
            <a:pPr>
              <a:spcAft>
                <a:spcPts val="0"/>
              </a:spcAft>
            </a:pPr>
            <a:r>
              <a:rPr sz="1100">
                <a:solidFill>
                  <a:srgbClr val="333333"/>
                </a:solidFill>
                <a:latin typeface="맑은 고딕"/>
              </a:rPr>
              <a:t>  "리드문": "통계청은 2026년 1월 온라인쇼핑 거래액이 201,250억 원으로 집계되었다고 밝혔다. 이는 전월 대비 1.5%, 전년동월대비 8.7% 증가한 수치이다. 이로써 온라인쇼핑 거래액은 역대 1월 기준 최대치를 기록하였다."</a:t>
            </a:r>
          </a:p>
          <a:p>
            <a:pPr>
              <a:spcAft>
                <a:spcPts val="0"/>
              </a:spcAft>
            </a:pPr>
            <a:r>
              <a:rPr sz="1100">
                <a:solidFill>
                  <a:srgbClr val="333333"/>
                </a:solidFill>
                <a:latin typeface="맑은 고딕"/>
              </a:rPr>
              <a:t>}</a:t>
            </a:r>
          </a:p>
        </p:txBody>
      </p:sp>
      <p:pic>
        <p:nvPicPr>
          <p:cNvPr id="6" name="Picture 5" descr="ch05_역대최대_추이.png"/>
          <p:cNvPicPr>
            <a:picLocks noChangeAspect="1"/>
          </p:cNvPicPr>
          <p:nvPr/>
        </p:nvPicPr>
        <p:blipFill>
          <a:blip r:embed="rId2"/>
          <a:stretch>
            <a:fillRect/>
          </a:stretch>
        </p:blipFill>
        <p:spPr>
          <a:xfrm>
            <a:off x="3581329" y="2992120"/>
            <a:ext cx="5029036" cy="329184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여러 후보 중 선택 기준</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후보 선택 시 고려할 기준</a:t>
            </a:r>
          </a:p>
          <a:p>
            <a:pPr>
              <a:spcAft>
                <a:spcPts val="600"/>
              </a:spcAft>
            </a:pPr>
            <a:r>
              <a:rPr sz="1600">
                <a:solidFill>
                  <a:srgbClr val="222222"/>
                </a:solidFill>
                <a:latin typeface="맑은 고딕"/>
              </a:rPr>
              <a:t>• 핵심 수치가 정확하게 표현되었는가</a:t>
            </a:r>
          </a:p>
          <a:p>
            <a:pPr>
              <a:spcAft>
                <a:spcPts val="600"/>
              </a:spcAft>
            </a:pPr>
            <a:r>
              <a:rPr sz="1600">
                <a:solidFill>
                  <a:srgbClr val="222222"/>
                </a:solidFill>
                <a:latin typeface="맑은 고딕"/>
              </a:rPr>
              <a:t>• 문장 길이가 제목 15자, 부제 25자 내외의 조건을 지켰는가</a:t>
            </a:r>
          </a:p>
          <a:p>
            <a:pPr>
              <a:spcAft>
                <a:spcPts val="600"/>
              </a:spcAft>
            </a:pPr>
            <a:r>
              <a:rPr sz="1600">
                <a:solidFill>
                  <a:srgbClr val="222222"/>
                </a:solidFill>
                <a:latin typeface="맑은 고딕"/>
              </a:rPr>
              <a:t>• 가장 특이한 사실(역대 최대 등)이 제목 또는 부제에 드러나는가</a:t>
            </a:r>
          </a:p>
          <a:p>
            <a:pPr>
              <a:spcAft>
                <a:spcPts val="600"/>
              </a:spcAft>
            </a:pPr>
            <a:r>
              <a:rPr sz="1600">
                <a:solidFill>
                  <a:srgbClr val="222222"/>
                </a:solidFill>
                <a:latin typeface="맑은 고딕"/>
              </a:rPr>
              <a:t>• 여러 후보 중 가장 간결하면서도 정보 손실이 없는 문장을 최종 채택</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생성 결과 검증, 수치 대조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리드문 자동 검증 코드</a:t>
            </a:r>
          </a:p>
        </p:txBody>
      </p:sp>
      <p:sp>
        <p:nvSpPr>
          <p:cNvPr id="5" name="TextBox 4"/>
          <p:cNvSpPr txBox="1"/>
          <p:nvPr/>
        </p:nvSpPr>
        <p:spPr>
          <a:xfrm>
            <a:off x="457200" y="1828800"/>
            <a:ext cx="11277295" cy="4927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is_valid = verify_numbers(headline_set["리드문"], data)</a:t>
            </a:r>
          </a:p>
          <a:p>
            <a:pPr>
              <a:spcAft>
                <a:spcPts val="0"/>
              </a:spcAft>
            </a:pPr>
            <a:r>
              <a:rPr sz="1100">
                <a:solidFill>
                  <a:srgbClr val="333333"/>
                </a:solidFill>
                <a:latin typeface="맑은 고딕"/>
              </a:rPr>
              <a:t>print("리드문 수치 검증:", "통과" if is_valid else "재검토 필요")</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표준 데이터에 제목·부제·리드문 필드 추가</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표준 JSON 확장, 헤드라인 필드 추가</a:t>
            </a:r>
          </a:p>
        </p:txBody>
      </p:sp>
      <p:sp>
        <p:nvSpPr>
          <p:cNvPr id="5" name="TextBox 4"/>
          <p:cNvSpPr txBox="1"/>
          <p:nvPr/>
        </p:nvSpPr>
        <p:spPr>
          <a:xfrm>
            <a:off x="457200" y="1828800"/>
            <a:ext cx="11277295" cy="13817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a:t>
            </a:r>
          </a:p>
          <a:p>
            <a:pPr>
              <a:spcAft>
                <a:spcPts val="0"/>
              </a:spcAft>
            </a:pPr>
            <a:r>
              <a:rPr sz="1100">
                <a:solidFill>
                  <a:srgbClr val="333333"/>
                </a:solidFill>
                <a:latin typeface="맑은 고딕"/>
              </a:rPr>
              <a:t>  "헤드라인": {</a:t>
            </a:r>
          </a:p>
          <a:p>
            <a:pPr>
              <a:spcAft>
                <a:spcPts val="0"/>
              </a:spcAft>
            </a:pPr>
            <a:r>
              <a:rPr sz="1100">
                <a:solidFill>
                  <a:srgbClr val="333333"/>
                </a:solidFill>
                <a:latin typeface="맑은 고딕"/>
              </a:rPr>
              <a:t>    "제목": "1월 온라인쇼핑 거래액, 역대 최대",</a:t>
            </a:r>
          </a:p>
          <a:p>
            <a:pPr>
              <a:spcAft>
                <a:spcPts val="0"/>
              </a:spcAft>
            </a:pPr>
            <a:r>
              <a:rPr sz="1100">
                <a:solidFill>
                  <a:srgbClr val="333333"/>
                </a:solidFill>
                <a:latin typeface="맑은 고딕"/>
              </a:rPr>
              <a:t>    "부제": "모바일쇼핑 비중 78%로 지속 확대",</a:t>
            </a:r>
          </a:p>
          <a:p>
            <a:pPr>
              <a:spcAft>
                <a:spcPts val="0"/>
              </a:spcAft>
            </a:pPr>
            <a:r>
              <a:rPr sz="1100">
                <a:solidFill>
                  <a:srgbClr val="333333"/>
                </a:solidFill>
                <a:latin typeface="맑은 고딕"/>
              </a:rPr>
              <a:t>    "리드문": "통계청은 2026년 1월 온라인쇼핑 거래액이 201,250억 원으로 집계되었다고 밝혔다. 이는 전월 대비 1.5%, 전년동월대비 8.7% 증가한 수치이다. 이로써 온라인쇼핑 거래액은 역대 1월 기준 최대치를 기록하였다."</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정리하기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32200"/>
          </a:xfrm>
          <a:prstGeom prst="rect">
            <a:avLst/>
          </a:prstGeom>
          <a:noFill/>
        </p:spPr>
        <p:txBody>
          <a:bodyPr wrap="square">
            <a:noAutofit/>
          </a:bodyPr>
          <a:lstStyle/>
          <a:p>
            <a:pPr>
              <a:spcAft>
                <a:spcPts val="600"/>
              </a:spcAft>
            </a:pPr>
            <a:r>
              <a:rPr sz="1600">
                <a:solidFill>
                  <a:srgbClr val="222222"/>
                </a:solidFill>
                <a:latin typeface="맑은 고딕"/>
              </a:rPr>
              <a:t>1. xlsx와 PDF, 두 가지 원자료 입력 처리</a:t>
            </a:r>
          </a:p>
          <a:p>
            <a:pPr lvl="1">
              <a:spcAft>
                <a:spcPts val="600"/>
              </a:spcAft>
            </a:pPr>
            <a:r>
              <a:rPr sz="1400">
                <a:solidFill>
                  <a:srgbClr val="222222"/>
                </a:solidFill>
                <a:latin typeface="맑은 고딕"/>
              </a:rPr>
              <a:t>• pandas의 read_excel과 pdfplumber로 엑셀과 PDF 원자료를 각각 읽어오고, load_input 함수로 확장자에 따라 자동으로 분기해서 표준 형태로 통합하는 방법을 배웠습니다.</a:t>
            </a:r>
          </a:p>
          <a:p>
            <a:pPr lvl="1">
              <a:spcAft>
                <a:spcPts val="600"/>
              </a:spcAft>
            </a:pPr>
            <a:r>
              <a:rPr sz="1400">
                <a:solidFill>
                  <a:srgbClr val="222222"/>
                </a:solidFill>
                <a:latin typeface="맑은 고딕"/>
              </a:rPr>
              <a:t>• "이력" 시트가 있으면 derive_history_indicators를 자동으로 호출해, 담당자가 역대 최대 여부를 직접 조사하지 않아도 프로그램이 판단하도록 만드는 방법도 확인했습니다.</a:t>
            </a:r>
          </a:p>
          <a:p>
            <a:pPr>
              <a:spcAft>
                <a:spcPts val="600"/>
              </a:spcAft>
            </a:pPr>
            <a:r>
              <a:rPr sz="1600">
                <a:solidFill>
                  <a:srgbClr val="222222"/>
                </a:solidFill>
                <a:latin typeface="맑은 고딕"/>
              </a:rPr>
              <a:t>2. 필수·선택·참고 기준에 따른 핵심지표 자동 선정</a:t>
            </a:r>
          </a:p>
          <a:p>
            <a:pPr lvl="1">
              <a:spcAft>
                <a:spcPts val="600"/>
              </a:spcAft>
            </a:pPr>
            <a:r>
              <a:rPr sz="1400">
                <a:solidFill>
                  <a:srgbClr val="222222"/>
                </a:solidFill>
                <a:latin typeface="맑은 고딕"/>
              </a:rPr>
              <a:t>• REQUIRED_FIELDS라는 필수 항목 목록을 기준으로, 전체 계산지표 중 제목과 리드문 작성에 꼭 필요한 지표만 자동으로 걸러내는 select_core_indicators 함수를 만들었습니다.</a:t>
            </a:r>
          </a:p>
          <a:p>
            <a:pPr>
              <a:spcAft>
                <a:spcPts val="600"/>
              </a:spcAft>
            </a:pPr>
            <a:r>
              <a:rPr sz="1600">
                <a:solidFill>
                  <a:srgbClr val="222222"/>
                </a:solidFill>
                <a:latin typeface="맑은 고딕"/>
              </a:rPr>
              <a:t>3. 6하원칙 기반 제목·부제·리드문 생성과 검증</a:t>
            </a:r>
          </a:p>
          <a:p>
            <a:pPr lvl="1">
              <a:spcAft>
                <a:spcPts val="600"/>
              </a:spcAft>
            </a:pPr>
            <a:r>
              <a:rPr sz="1400">
                <a:solidFill>
                  <a:srgbClr val="222222"/>
                </a:solidFill>
                <a:latin typeface="맑은 고딕"/>
              </a:rPr>
              <a:t>• 역할·조건·글자 수 제약을 담은 프롬프트로 제목, 부제, 리드문을 한 번에 JSON으로 생성하는 build_headline_prompt와 generate_headline_set 함수를 구현했습니다.</a:t>
            </a:r>
          </a:p>
          <a:p>
            <a:pPr lvl="1">
              <a:spcAft>
                <a:spcPts val="600"/>
              </a:spcAft>
            </a:pPr>
            <a:r>
              <a:rPr sz="1400">
                <a:solidFill>
                  <a:srgbClr val="222222"/>
                </a:solidFill>
                <a:latin typeface="맑은 고딕"/>
              </a:rPr>
              <a:t>• 생성된 리드문의 모든 숫자를 verify_numbers로 원본과 자동 대조해, 여러 후보 중 사람이 최종적으로 검토하고 선택하는 절차까지 익혔습니다.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참고자료</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470400"/>
          </a:xfrm>
          <a:prstGeom prst="rect">
            <a:avLst/>
          </a:prstGeom>
          <a:noFill/>
        </p:spPr>
        <p:txBody>
          <a:bodyPr wrap="square">
            <a:noAutofit/>
          </a:bodyPr>
          <a:lstStyle/>
          <a:p>
            <a:pPr>
              <a:spcAft>
                <a:spcPts val="600"/>
              </a:spcAft>
            </a:pPr>
            <a:r>
              <a:rPr sz="1600">
                <a:solidFill>
                  <a:srgbClr val="222222"/>
                </a:solidFill>
                <a:latin typeface="맑은 고딕"/>
              </a:rPr>
              <a:t>• Anthropic Claude 공식 사용 가이드: https://docs.anthropic.com/</a:t>
            </a:r>
          </a:p>
          <a:p>
            <a:pPr>
              <a:spcAft>
                <a:spcPts val="600"/>
              </a:spcAft>
            </a:pPr>
            <a:r>
              <a:rPr sz="1600">
                <a:solidFill>
                  <a:srgbClr val="222222"/>
                </a:solidFill>
                <a:latin typeface="맑은 고딕"/>
              </a:rPr>
              <a:t>• Claude Code 사용법: https://docs.anthropic.com/claude-code/</a:t>
            </a:r>
          </a:p>
          <a:p>
            <a:pPr>
              <a:spcAft>
                <a:spcPts val="600"/>
              </a:spcAft>
            </a:pPr>
            <a:r>
              <a:rPr sz="1600">
                <a:solidFill>
                  <a:srgbClr val="222222"/>
                </a:solidFill>
                <a:latin typeface="맑은 고딕"/>
              </a:rPr>
              <a:t>• KOSIS 국가통계포털: https://kosis.kr/</a:t>
            </a:r>
          </a:p>
          <a:p>
            <a:pPr>
              <a:spcAft>
                <a:spcPts val="600"/>
              </a:spcAft>
            </a:pPr>
            <a:r>
              <a:rPr sz="1600">
                <a:solidFill>
                  <a:srgbClr val="222222"/>
                </a:solidFill>
                <a:latin typeface="맑은 고딕"/>
              </a:rPr>
              <a:t>• MDIS 마이크로데이터 통합서비스: https://mdis.mods.go.kr/</a:t>
            </a:r>
          </a:p>
          <a:p>
            <a:pPr>
              <a:spcAft>
                <a:spcPts val="600"/>
              </a:spcAft>
            </a:pPr>
            <a:r>
              <a:rPr sz="1600">
                <a:solidFill>
                  <a:srgbClr val="222222"/>
                </a:solidFill>
                <a:latin typeface="맑은 고딕"/>
              </a:rPr>
              <a:t>• SGIS 통계지리정보서비스: https://sgis.mods.go.kr/</a:t>
            </a:r>
          </a:p>
          <a:p>
            <a:pPr>
              <a:spcAft>
                <a:spcPts val="600"/>
              </a:spcAft>
            </a:pPr>
            <a:r>
              <a:rPr sz="1600">
                <a:solidFill>
                  <a:srgbClr val="222222"/>
                </a:solidFill>
                <a:latin typeface="맑은 고딕"/>
              </a:rPr>
              <a:t>• 통계청 공식 홈페이지 (통계 공표 및 보도자료): https://kostat.go.kr/</a:t>
            </a:r>
          </a:p>
          <a:p>
            <a:pPr>
              <a:spcAft>
                <a:spcPts val="600"/>
              </a:spcAft>
            </a:pPr>
            <a:r>
              <a:rPr sz="1600">
                <a:solidFill>
                  <a:srgbClr val="222222"/>
                </a:solidFill>
                <a:latin typeface="맑은 고딕"/>
              </a:rPr>
              <a:t>• 대한민국 정책브리핑 (공공 보도자료 작성 및 브리핑): https://www.korea.kr/</a:t>
            </a:r>
          </a:p>
          <a:p>
            <a:pPr>
              <a:spcAft>
                <a:spcPts val="600"/>
              </a:spcAft>
            </a:pPr>
            <a:r>
              <a:rPr sz="1600">
                <a:solidFill>
                  <a:srgbClr val="222222"/>
                </a:solidFill>
                <a:latin typeface="맑은 고딕"/>
              </a:rPr>
              <a:t>• 국가법령정보센터 (통계법 제27조의2 - 공표 전 통계 보안): https://www.law.go.kr/</a:t>
            </a:r>
          </a:p>
          <a:p>
            <a:pPr>
              <a:spcAft>
                <a:spcPts val="600"/>
              </a:spcAft>
            </a:pPr>
            <a:r>
              <a:rPr sz="1600">
                <a:solidFill>
                  <a:srgbClr val="222222"/>
                </a:solidFill>
                <a:latin typeface="맑은 고딕"/>
              </a:rPr>
              <a:t>• 국가정보원 (국가·공공기관 생성형 AI 활용 보안 가이드라인): https://www.nis.go.kr/</a:t>
            </a:r>
          </a:p>
          <a:p>
            <a:pPr>
              <a:spcAft>
                <a:spcPts val="600"/>
              </a:spcAft>
            </a:pPr>
            <a:r>
              <a:rPr sz="1600">
                <a:solidFill>
                  <a:srgbClr val="222222"/>
                </a:solidFill>
                <a:latin typeface="맑은 고딕"/>
              </a:rPr>
              <a:t>• 개인정보보호위원회 (개인정보 보호 및 마스킹 수칙): https://www.pipc.go.kr/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