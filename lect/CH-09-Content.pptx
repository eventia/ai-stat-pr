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만든 결과물은 내용상으로는 완결되었지만, 여러 차시에 걸쳐 각기 다른 프롬프트로 생성되었기 때문에 문체가 뒤섞여 있을 수 있습니다. 예를 들어 리드문과 본문 단락들이 이전 차시들에서 서로 다른 프롬프트로 따로 생성되었으니 미묘하게 어투가 다를 수 있는 것입니다. 이번 시간에는 이 초안을 하나의 통일된 문체로 다듬고, 사람이 직접 검수하기 전 마지막 안전장치인 AI 감수 단계를 추가합니다. 오늘이 바로 이 프로젝트 전체의 마지막 안전장치를 완성하는 시간입니다.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문체를 통일하기 전에, 우리가 목표로 하는 보도자료 표준 문체가 어떤 특징을 갖는지 먼저 정리하겠습니다. 첫째, 객관적 서술체입니다. "~하였다", "~로 나타났다"처럼 감정을 배제한 문어체를 사용합니다. 둘째, 능동적 화자 명시입니다. "통계청은 ~라고 밝혔다"처럼 누가 발표했는지 발표 주체를 분명히 밝힙니다. 셋째, 절제된 수식어입니다. "매우", "놀라운" 같은 주관적 수식어는 배제하고 수치로 설명합니다. 보도자료는 개인의 감상이 아니라 사실을 전달하는 공식 문서이기 때문에, 이 세 가지 특징을 일관되게 유지해야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배운 표준 문체의 특징을 실제 프롬프트로 옮기면 이런 모습이 됩니다. 이미 작성된 초안 전체, 즉 리드문과 본문을 합친 텍스트를 통째로 입력으로 주고, 문체를 통일하는 것만을 목적으로 하는 별도의 프롬프트를 설계합니다. 여기서 핵심은, 이 단계는 내용을 새로 만드는 것이 아니라 표현 방식만 다듬는 작업이라는 점입니다. 그래서 프롬프트에 "사실과 수치는 절대 변경 금지"라는 조건을 특히 강조해서 넣습니다.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설계한 프롬프트를 실제 코드로 옮기면 두 개의 함수가 필요합니다. 먼저 assemble_full_text 함수는 표준 데이터 안에 흩어져 있는 헤드라인의 리드문과 본문의 여러 단락을, 줄바꿈 두 번으로 구분해서 하나의 문자열로 합칩니다. 그다음 unify_style 함수가 이 합쳐진 텍스트를 프롬프트에 담아 API를 호출하고, 문체가 통일된 결과 텍스트를 돌려받습니다. 이전 차시까지 개별적으로 생성되었던 문단들이 이 두 함수를 거치면서 하나의 일관된 문체를 갖춘 완결된 글로 통합됩니다. assemble_full_text처럼 반복적으로 필요한 조립 작업을 별도 함수로 분리해두면, 마지막 차시의 전체 파이프라인에서도 이 함수를 그대로 재사용할 수 있어서 편리합니다.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문체를 통일했다면 이제 검수 단계로 넘어갑니다. 지금까지 여러 차시에 걸쳐 강조해온 오류 유형 네 가지를 마지막으로 종합 점검하겠습니다. %와 %p의 혼동, "201250"처럼 천 단위 구분 콤마가 빠진 경우, "억원"과 "억 원"처럼 단위 표기가 혼용된 경우, 그리고 원본 수치와 생성 문장 속 수치가 일치하지 않는 환각으로 인한 오류입니다. 특히 문체 변환 과정에서 AI가 문장을 다시 쓰면서 새로운 오류가 생기지 않았는지 다시 한번 확인하는 것이 이번 검수의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정리한 오류 유형들을 실제로 정규표현식으로 자동 검사하는 함수가 check_formatting_errors입니다. 세 가지를 검사합니다. 첫째, 텍스트 안에 "억원"이라는 붙여쓴 표기가 있는지 단순 문자열 검색으로 찾아냅니다. 둘째, 콤마 없이 다섯 자리 이상 이어지는 숫자가 있는지 정규식으로 찾아냅니다. 이건 "201250"처럼 천 단위 구분 콤마가 빠진 경우를 잡아내기 위한 것입니다. 셋째, "비중"이라는 단어 근처 10자 이내에 "증가", "감소", "확대", "축소" 같은 표현이 있는데 "%p"라는 표기가 문서 전체에 없다면, 퍼센트포인트 표기가 필요한지 확인해보라고 경고합니다. 여기서 꼭 기억해야 할 점은, 이 검사가 완벽하지 않다는 것입니다. 정규표현식 기반의 자동 검수는 어디까지나 1차 필터일 뿐이고, 최종 확인은 반드시 사람이 담당해야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표기 오류 검사와 별개로, 숫자 자체가 원본과 일치하는지 검증하는 함수도 있어야 합니다. cross_check_all_numbers 함수는 이전 차시에서 이미 만든 find_unverified_numbers 함수를 그대로 재사용합니다. 리드문과 본문 전체를 대상으로 문서 안에 등장하는 모든 숫자를 원본 계산지표, 그리고 품목별지표와 일대일로 대조해서, 불일치하는 숫자가 있으면 목록으로 반환합니다. 이전 차시에서 만든 검증 로직을 여기서도 그대로 재사용하는 이유는, 요약문 하나를 검증할 때와 완성된 보도자료 전체를 검증할 때 서로 다른 기준을 쓰면 안 되기 때문입니다. 같은 함수를 공유해야 두 검증이 항상 일관된 기준으로 동작합니다.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지금까지는 AI가 계속 글을 작성하는 역할이었다면, 이번에는 완전히 다른 역할, 즉 제3자 감수자의 입장에서 완성된 결과물을 검토하도록 요청합니다. 화면의 프롬프트처럼 수치 오류, 과장된 표현, 문체 불일치, 논리적 비약이라는 네 가지 관점을 명시적으로 제시합니다. 이렇게 작성자와 감수자의 역할을 분리하면, 같은 AI 모델이라도 훨씬 더 비판적인 시각에서 스스로 오류를 찾아낼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작성 단계와 마찬가지로 감수 단계도 review_press_release라는 함수로 만들어서, 최종본과 원본 데이터를 입력하면 지적사항 목록을 자동으로 받아볼 수 있도록 구현했습니다. 이 함수에는 두 가지 중요한 설계 포인트가 있습니다. 첫째, 근거자료라는 딕셔너리에 계산지표뿐 아니라 통계해석결과, 품목별지표, 역대최대여부, 최근3개월증감률까지 관련된 모든 근거 자료를 함께 담아서 감수자에게 전달합니다. 이렇게 해야 감수자가 "역대 최대"나 "몇 개월 연속 증가" 같은 표현을 근거 없는 과장으로 오판하지 않습니다. 둘째, max_tokens를 1500으로 넉넉하게 잡고, 프롬프트에 "지적사항은 최대 5건까지, 항목당 한 문장"이라는 분량 제약을 넣었습니다. 그리고 마지막으로 try-except 구문으로 감싸서, 혹시라도 AI 응답이 중간에 잘리거나 JSON 형식이 아니어서 파싱에 실패하더라도 예외를 던져서 전체 파이프라인을 멈추게 하지 않고, 대신 "파싱 실패"라는 안내 항목 하나를 반환하도록 만들었습니다. AI 감수는 어디까지나 3단계 안전장치 중 하나일 뿐이므로, 이 단계 하나가 실패하더라도 이미 끝난 표기 검사와 수치 검증 결과는 그대로 보여줄 수 있어야 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review_press_release 함수를 호출하면 이런 형태의 결과를 받게 됩니다. 화면의 예시를 보시면, 본문 2단락에 개조식 표현이 남아있다는 문체 불일치 지적, 그리고 부제의 "지속 확대"라는 표현이 2개월치 데이터만으로는 과장이라는 지적이 담겨 있습니다. 이렇게 AI 감수자는 사람이 놓치기 쉬운 세부적인 표현상의 문제까지 짚어낼 수 있습니다. 다만 이 감수 결과 역시 AI의 판단이라는 것을 잊지 마세요. 지적사항이 실제로 타당한지는 최종적으로 사람이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감수 결과를 받았다고 해서 지적된 내용을 무조건 다 반영하는 것은 아닙니다. 절차는 이렇습니다. 먼저 지적사항 목록을 전부 확인하고, 그중에서 담당자가 타당하다고 판단한 지적사항만 선별합니다. 그다음 해당 부분만 다시 프롬프트로 재생성하거나 직접 손으로 수정합니다. 그리고 반드시 마지막 단계로, 수정된 최종본에 대해 수치 교차 검증을 다시 한번 실행합니다. 왜냐하면 수정하는 과정에서 실수로 새로운 오류가 생길 수도 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배운 모든 검증 절차를 종합한 최종 체크리스트입니다. 문체가 보도자료 전체에서 일관되게 유지되는지, 모든 수치가 원본 데이터와 교차 검증을 통과했는지, AI 감수자가 지적한 사항이 검토되고 필요한 부분은 수정되었는지, 그리고 이전 차시에서 배운 보안 점검표까지 함께 충족되는지 확인합니다. 이 체크리스트를 모두 통과해야 비로소 사람의 최종 승인 단계로 넘어갈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문체가 통일된 최종본과, 자동 검수 및 AI 감수 결과를 "최종본"과 "검수결과"라는 필드로 표준 데이터에 함께 저장합니다. 이 결과는 다음 차시에서 전체 시스템을 통합할 때 최종 산출물을 검증하는 단계의 입력값으로 그대로 사용됩니다.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과정명 "AI를 활용한 통계 보도자료 작성(NLP+LLM)"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차시명 "Ch 09. 통계 보도자료 작성 실습3 (문체, 자동교정, 감수 모델 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도입</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이전 여러 차시를 거치며 제목, 부제, 리드문, 본문까지 담긴 보도자료 초안을 완성했습니다. 다만 이 초안은 여러 차시에 걸쳐 서로 다른 프롬프트로 생성되었기 때문에 문체가 뒤섞여 있을 수 있습니다. 이번 시간에는 초안 전체의 문체를 하나로 통일하고, 정규표현식으로 표기 오류를 자동 검수하며, 마지막으로 AI에게 제3자 감수자 역할을 맡겨 사람이 놓치기 쉬운 문제까지 짚어내는 방법을 배웁니다. 이는 사람이 최종 승인을 내리기 전, 자동화 시스템이 갖추어야 할 마지막 안전장치입니다.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학습내용, 학습목표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235200"/>
          </a:xfrm>
          <a:prstGeom prst="rect">
            <a:avLst/>
          </a:prstGeom>
          <a:noFill/>
        </p:spPr>
        <p:txBody>
          <a:bodyPr wrap="square">
            <a:noAutofit/>
          </a:bodyPr>
          <a:lstStyle/>
          <a:p>
            <a:pPr>
              <a:spcAft>
                <a:spcPts val="600"/>
              </a:spcAft>
            </a:pPr>
            <a:r>
              <a:rPr sz="1600">
                <a:solidFill>
                  <a:srgbClr val="222222"/>
                </a:solidFill>
                <a:latin typeface="맑은 고딕"/>
              </a:rPr>
              <a:t>학습내용</a:t>
            </a:r>
          </a:p>
          <a:p>
            <a:pPr>
              <a:spcAft>
                <a:spcPts val="600"/>
              </a:spcAft>
            </a:pPr>
            <a:r>
              <a:rPr sz="1600">
                <a:solidFill>
                  <a:srgbClr val="222222"/>
                </a:solidFill>
                <a:latin typeface="맑은 고딕"/>
              </a:rPr>
              <a:t>1. 보도자료 문체 변환</a:t>
            </a:r>
          </a:p>
          <a:p>
            <a:pPr>
              <a:spcAft>
                <a:spcPts val="600"/>
              </a:spcAft>
            </a:pPr>
            <a:r>
              <a:rPr sz="1600">
                <a:solidFill>
                  <a:srgbClr val="222222"/>
                </a:solidFill>
                <a:latin typeface="맑은 고딕"/>
              </a:rPr>
              <a:t>2. 수치·단위·표현 오류 검수</a:t>
            </a:r>
          </a:p>
          <a:p>
            <a:pPr>
              <a:spcAft>
                <a:spcPts val="600"/>
              </a:spcAft>
            </a:pPr>
            <a:r>
              <a:rPr sz="1600">
                <a:solidFill>
                  <a:srgbClr val="222222"/>
                </a:solidFill>
                <a:latin typeface="맑은 고딕"/>
              </a:rPr>
              <a:t>3. 자동 교정·감수 기능 구현</a:t>
            </a:r>
          </a:p>
          <a:p>
            <a:pPr>
              <a:spcAft>
                <a:spcPts val="600"/>
              </a:spcAft>
            </a:pPr>
            <a:r>
              <a:rPr sz="1600">
                <a:solidFill>
                  <a:srgbClr val="222222"/>
                </a:solidFill>
                <a:latin typeface="맑은 고딕"/>
              </a:rPr>
              <a:t>학습목표</a:t>
            </a:r>
          </a:p>
          <a:p>
            <a:pPr>
              <a:spcAft>
                <a:spcPts val="600"/>
              </a:spcAft>
            </a:pPr>
            <a:r>
              <a:rPr sz="1600">
                <a:solidFill>
                  <a:srgbClr val="222222"/>
                </a:solidFill>
                <a:latin typeface="맑은 고딕"/>
              </a:rPr>
              <a:t>1. 초안 전체를 통계청 보도자료 표준 문체로 통일할 수 있다.</a:t>
            </a:r>
          </a:p>
          <a:p>
            <a:pPr>
              <a:spcAft>
                <a:spcPts val="600"/>
              </a:spcAft>
            </a:pPr>
            <a:r>
              <a:rPr sz="1600">
                <a:solidFill>
                  <a:srgbClr val="222222"/>
                </a:solidFill>
                <a:latin typeface="맑은 고딕"/>
              </a:rPr>
              <a:t>2. 정규표현식과 수치 교차 검증으로 표기 오류와 환각을 자동으로 검수할 수 있다.</a:t>
            </a:r>
          </a:p>
          <a:p>
            <a:pPr>
              <a:spcAft>
                <a:spcPts val="600"/>
              </a:spcAft>
            </a:pPr>
            <a:r>
              <a:rPr sz="1600">
                <a:solidFill>
                  <a:srgbClr val="222222"/>
                </a:solidFill>
                <a:latin typeface="맑은 고딕"/>
              </a:rPr>
              <a:t>3. AI 감수자 역할을 부여해 지적사항을 받고 반영 여부를 판단할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1. 보도자료 문체 변환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초안에서 완성본으로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지금까지의 결과물과 이번 차시의 역할</a:t>
            </a:r>
          </a:p>
          <a:p>
            <a:pPr>
              <a:spcAft>
                <a:spcPts val="600"/>
              </a:spcAft>
            </a:pPr>
            <a:r>
              <a:rPr sz="1600">
                <a:solidFill>
                  <a:srgbClr val="222222"/>
                </a:solidFill>
                <a:latin typeface="맑은 고딕"/>
              </a:rPr>
              <a:t>• 이전 차시: 제목, 부제, 리드문, 본문까지 담긴 보도자료 초안 완성</a:t>
            </a:r>
          </a:p>
          <a:p>
            <a:pPr>
              <a:spcAft>
                <a:spcPts val="600"/>
              </a:spcAft>
            </a:pPr>
            <a:r>
              <a:rPr sz="1600">
                <a:solidFill>
                  <a:srgbClr val="222222"/>
                </a:solidFill>
                <a:latin typeface="맑은 고딕"/>
              </a:rPr>
              <a:t>• 이번 차시: 초안의 문체를 통일하고, 오류를 검수하고, AI 감수를 거쳐 최종본으로 완성</a:t>
            </a:r>
          </a:p>
          <a:p>
            <a:pPr>
              <a:spcAft>
                <a:spcPts val="600"/>
              </a:spcAft>
            </a:pPr>
            <a:r>
              <a:rPr sz="1600">
                <a:solidFill>
                  <a:srgbClr val="222222"/>
                </a:solidFill>
                <a:latin typeface="맑은 고딕"/>
              </a:rPr>
              <a:t>• 목표: AI 작성 초안의 문체 교정 및 품질 검증 기능 구현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보도자료 표준 문체의 특징</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공공 보도자료체의 핵심 특징</a:t>
            </a:r>
          </a:p>
          <a:p>
            <a:pPr>
              <a:spcAft>
                <a:spcPts val="600"/>
              </a:spcAft>
            </a:pPr>
            <a:r>
              <a:rPr sz="1600">
                <a:solidFill>
                  <a:srgbClr val="222222"/>
                </a:solidFill>
                <a:latin typeface="맑은 고딕"/>
              </a:rPr>
              <a:t>• 객관적 서술체: "~하였다", "~로 나타났다"와 같이 감정을 배제한 문어체 사용</a:t>
            </a:r>
          </a:p>
          <a:p>
            <a:pPr>
              <a:spcAft>
                <a:spcPts val="600"/>
              </a:spcAft>
            </a:pPr>
            <a:r>
              <a:rPr sz="1600">
                <a:solidFill>
                  <a:srgbClr val="222222"/>
                </a:solidFill>
                <a:latin typeface="맑은 고딕"/>
              </a:rPr>
              <a:t>• 능동적 화자 명시: "통계청은 ~라고 밝혔다"처럼 발표 주체를 분명히 함</a:t>
            </a:r>
          </a:p>
          <a:p>
            <a:pPr>
              <a:spcAft>
                <a:spcPts val="600"/>
              </a:spcAft>
            </a:pPr>
            <a:r>
              <a:rPr sz="1600">
                <a:solidFill>
                  <a:srgbClr val="222222"/>
                </a:solidFill>
                <a:latin typeface="맑은 고딕"/>
              </a:rPr>
              <a:t>• 절제된 수식어: "매우", "놀라운"과 같은 주관적 수식어를 배제하고 수치로 설명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문체 변환 프롬프트 설계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문체 변환 프롬프트 예시</a:t>
            </a:r>
          </a:p>
        </p:txBody>
      </p:sp>
      <p:sp>
        <p:nvSpPr>
          <p:cNvPr id="5" name="TextBox 4"/>
          <p:cNvSpPr txBox="1"/>
          <p:nvPr/>
        </p:nvSpPr>
        <p:spPr>
          <a:xfrm>
            <a:off x="457200" y="1828800"/>
            <a:ext cx="11277295" cy="1026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아래 초안을 통계청 보도자료 표준 문체로 통일해 주세요.</a:t>
            </a:r>
          </a:p>
          <a:p>
            <a:pPr>
              <a:spcAft>
                <a:spcPts val="0"/>
              </a:spcAft>
            </a:pPr>
            <a:r>
              <a:rPr sz="1100">
                <a:solidFill>
                  <a:srgbClr val="333333"/>
                </a:solidFill>
                <a:latin typeface="맑은 고딕"/>
              </a:rPr>
              <a:t>조건: 모든 문장을 객관적 서술체(~하였다, ~로 나타났다)로 통일,</a:t>
            </a:r>
          </a:p>
          <a:p>
            <a:pPr>
              <a:spcAft>
                <a:spcPts val="0"/>
              </a:spcAft>
            </a:pPr>
            <a:r>
              <a:rPr sz="1100">
                <a:solidFill>
                  <a:srgbClr val="333333"/>
                </a:solidFill>
                <a:latin typeface="맑은 고딕"/>
              </a:rPr>
              <a:t>주관적 수식어(매우, 놀랍게도 등) 제거, 사실과 수치는 절대 변경 금지</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초안: {리드문 + 본문 전체}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문체 변환 API 호출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문체 통일 함수</a:t>
            </a:r>
          </a:p>
        </p:txBody>
      </p:sp>
      <p:sp>
        <p:nvSpPr>
          <p:cNvPr id="5" name="TextBox 4"/>
          <p:cNvSpPr txBox="1"/>
          <p:nvPr/>
        </p:nvSpPr>
        <p:spPr>
          <a:xfrm>
            <a:off x="457200" y="1828800"/>
            <a:ext cx="11277295" cy="3515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assemble_full_text(data: dict) -&gt; str:</a:t>
            </a:r>
          </a:p>
          <a:p>
            <a:pPr>
              <a:spcAft>
                <a:spcPts val="0"/>
              </a:spcAft>
            </a:pPr>
            <a:r>
              <a:rPr sz="1100">
                <a:solidFill>
                  <a:srgbClr val="333333"/>
                </a:solidFill>
                <a:latin typeface="맑은 고딕"/>
              </a:rPr>
              <a:t>    """헤드라인의 리드문과 본문 전체 단락을 하나의 텍스트로 합친다."""</a:t>
            </a:r>
          </a:p>
          <a:p>
            <a:pPr>
              <a:spcAft>
                <a:spcPts val="0"/>
              </a:spcAft>
            </a:pPr>
            <a:r>
              <a:rPr sz="1100">
                <a:solidFill>
                  <a:srgbClr val="333333"/>
                </a:solidFill>
                <a:latin typeface="맑은 고딕"/>
              </a:rPr>
              <a:t>    return data["헤드라인"]["리드문"] + "\n\n" + "\n\n".join(p["내용"] for p in data["본문"])</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unify_style(draft_text: str) -&gt; str:</a:t>
            </a:r>
          </a:p>
          <a:p>
            <a:pPr>
              <a:spcAft>
                <a:spcPts val="0"/>
              </a:spcAft>
            </a:pPr>
            <a:r>
              <a:rPr sz="1100">
                <a:solidFill>
                  <a:srgbClr val="333333"/>
                </a:solidFill>
                <a:latin typeface="맑은 고딕"/>
              </a:rPr>
              <a:t>    prompt = f"""아래 초안을 통계청 보도자료 표준 문체로 통일해 주세요.</a:t>
            </a:r>
          </a:p>
          <a:p>
            <a:pPr>
              <a:spcAft>
                <a:spcPts val="0"/>
              </a:spcAft>
            </a:pPr>
            <a:r>
              <a:rPr sz="1100">
                <a:solidFill>
                  <a:srgbClr val="333333"/>
                </a:solidFill>
                <a:latin typeface="맑은 고딕"/>
              </a:rPr>
              <a:t>모든 문장을 객관적 서술체로 통일하고, 주관적 수식어는 제거하되</a:t>
            </a:r>
          </a:p>
          <a:p>
            <a:pPr>
              <a:spcAft>
                <a:spcPts val="0"/>
              </a:spcAft>
            </a:pPr>
            <a:r>
              <a:rPr sz="1100">
                <a:solidFill>
                  <a:srgbClr val="333333"/>
                </a:solidFill>
                <a:latin typeface="맑은 고딕"/>
              </a:rPr>
              <a:t>사실과 수치는 절대 변경하지 마세요.</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초안: {draft_text}"""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message = client.messages.create(</a:t>
            </a:r>
          </a:p>
          <a:p>
            <a:pPr>
              <a:spcAft>
                <a:spcPts val="0"/>
              </a:spcAft>
            </a:pPr>
            <a:r>
              <a:rPr sz="1100">
                <a:solidFill>
                  <a:srgbClr val="333333"/>
                </a:solidFill>
                <a:latin typeface="맑은 고딕"/>
              </a:rPr>
              <a:t>        model=MODEL_NAME, max_tokens=1000,  # MODEL_NAME은 이전 차시에서 정의한 상수를 재사용</a:t>
            </a:r>
          </a:p>
          <a:p>
            <a:pPr>
              <a:spcAft>
                <a:spcPts val="0"/>
              </a:spcAft>
            </a:pPr>
            <a:r>
              <a:rPr sz="1100">
                <a:solidFill>
                  <a:srgbClr val="333333"/>
                </a:solidFill>
                <a:latin typeface="맑은 고딕"/>
              </a:rPr>
              <a:t>        messages=[{"role": "user", "content": prompt}]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return message.content[0].text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draft = assemble_full_text(data)</a:t>
            </a:r>
          </a:p>
          <a:p>
            <a:pPr>
              <a:spcAft>
                <a:spcPts val="0"/>
              </a:spcAft>
            </a:pPr>
            <a:r>
              <a:rPr sz="1100">
                <a:solidFill>
                  <a:srgbClr val="333333"/>
                </a:solidFill>
                <a:latin typeface="맑은 고딕"/>
              </a:rPr>
              <a:t>unified_text = unify_style(draft)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2. 수치·단위·표현 오류 검수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수치·단위 오류 유형 정리</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자주 발생하는 4가지 오류 유형</a:t>
            </a:r>
          </a:p>
          <a:p>
            <a:pPr>
              <a:spcAft>
                <a:spcPts val="600"/>
              </a:spcAft>
            </a:pPr>
            <a:r>
              <a:rPr sz="1600">
                <a:solidFill>
                  <a:srgbClr val="222222"/>
                </a:solidFill>
                <a:latin typeface="맑은 고딕"/>
              </a:rPr>
              <a:t>• %(퍼센트)와 %p(퍼센트포인트) 혼동</a:t>
            </a:r>
          </a:p>
          <a:p>
            <a:pPr>
              <a:spcAft>
                <a:spcPts val="600"/>
              </a:spcAft>
            </a:pPr>
            <a:r>
              <a:rPr sz="1600">
                <a:solidFill>
                  <a:srgbClr val="222222"/>
                </a:solidFill>
                <a:latin typeface="맑은 고딕"/>
              </a:rPr>
              <a:t>• 천 단위 구분 콤마 누락 (201250 → 201,250)</a:t>
            </a:r>
          </a:p>
          <a:p>
            <a:pPr>
              <a:spcAft>
                <a:spcPts val="600"/>
              </a:spcAft>
            </a:pPr>
            <a:r>
              <a:rPr sz="1600">
                <a:solidFill>
                  <a:srgbClr val="222222"/>
                </a:solidFill>
                <a:latin typeface="맑은 고딕"/>
              </a:rPr>
              <a:t>• 단위 표기 불일치 (억원, 억 원 혼용)</a:t>
            </a:r>
          </a:p>
          <a:p>
            <a:pPr>
              <a:spcAft>
                <a:spcPts val="600"/>
              </a:spcAft>
            </a:pPr>
            <a:r>
              <a:rPr sz="1600">
                <a:solidFill>
                  <a:srgbClr val="222222"/>
                </a:solidFill>
                <a:latin typeface="맑은 고딕"/>
              </a:rPr>
              <a:t>• 원본 수치와 생성 문장 속 수치의 불일치 (환각으로 인한 오류)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정규표현식 기반 자동 검수</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단위 표기 자동 검수 함수</a:t>
            </a:r>
          </a:p>
        </p:txBody>
      </p:sp>
      <p:sp>
        <p:nvSpPr>
          <p:cNvPr id="5" name="TextBox 4"/>
          <p:cNvSpPr txBox="1"/>
          <p:nvPr/>
        </p:nvSpPr>
        <p:spPr>
          <a:xfrm>
            <a:off x="457200" y="1828800"/>
            <a:ext cx="11277295" cy="2626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re</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check_formatting_errors(text: str) -&gt; list:</a:t>
            </a:r>
          </a:p>
          <a:p>
            <a:pPr>
              <a:spcAft>
                <a:spcPts val="0"/>
              </a:spcAft>
            </a:pPr>
            <a:r>
              <a:rPr sz="1100">
                <a:solidFill>
                  <a:srgbClr val="333333"/>
                </a:solidFill>
                <a:latin typeface="맑은 고딕"/>
              </a:rPr>
              <a:t>    """정규표현식 기반 1차 표기 오류 필터. 완벽하지 않으므로 최종 확인은 사람이 담당한다."""</a:t>
            </a:r>
          </a:p>
          <a:p>
            <a:pPr>
              <a:spcAft>
                <a:spcPts val="0"/>
              </a:spcAft>
            </a:pPr>
            <a:r>
              <a:rPr sz="1100">
                <a:solidFill>
                  <a:srgbClr val="333333"/>
                </a:solidFill>
                <a:latin typeface="맑은 고딕"/>
              </a:rPr>
              <a:t>    errors = []</a:t>
            </a:r>
          </a:p>
          <a:p>
            <a:pPr>
              <a:spcAft>
                <a:spcPts val="0"/>
              </a:spcAft>
            </a:pPr>
            <a:r>
              <a:rPr sz="1100">
                <a:solidFill>
                  <a:srgbClr val="333333"/>
                </a:solidFill>
                <a:latin typeface="맑은 고딕"/>
              </a:rPr>
              <a:t>    if "억원" in text:</a:t>
            </a:r>
          </a:p>
          <a:p>
            <a:pPr>
              <a:spcAft>
                <a:spcPts val="0"/>
              </a:spcAft>
            </a:pPr>
            <a:r>
              <a:rPr sz="1100">
                <a:solidFill>
                  <a:srgbClr val="333333"/>
                </a:solidFill>
                <a:latin typeface="맑은 고딕"/>
              </a:rPr>
              <a:t>        errors.append("단위 표기 오류: '억원'은 '억 원'으로 띄어써야 함")</a:t>
            </a:r>
          </a:p>
          <a:p>
            <a:pPr>
              <a:spcAft>
                <a:spcPts val="0"/>
              </a:spcAft>
            </a:pPr>
            <a:r>
              <a:rPr sz="1100">
                <a:solidFill>
                  <a:srgbClr val="333333"/>
                </a:solidFill>
                <a:latin typeface="맑은 고딕"/>
              </a:rPr>
              <a:t>    if re.search(r'(?&lt;!\d)\d{5,}(?!\d)', text):</a:t>
            </a:r>
          </a:p>
          <a:p>
            <a:pPr>
              <a:spcAft>
                <a:spcPts val="0"/>
              </a:spcAft>
            </a:pPr>
            <a:r>
              <a:rPr sz="1100">
                <a:solidFill>
                  <a:srgbClr val="333333"/>
                </a:solidFill>
                <a:latin typeface="맑은 고딕"/>
              </a:rPr>
              <a:t>        errors.append("천 단위 구분 콤마 누락 의심: 콤마 없는 5자리 이상 숫자 발견")</a:t>
            </a:r>
          </a:p>
          <a:p>
            <a:pPr>
              <a:spcAft>
                <a:spcPts val="0"/>
              </a:spcAft>
            </a:pPr>
            <a:r>
              <a:rPr sz="1100">
                <a:solidFill>
                  <a:srgbClr val="333333"/>
                </a:solidFill>
                <a:latin typeface="맑은 고딕"/>
              </a:rPr>
              <a:t>    if re.search(r'비중.{0,10}(증가|감소|확대|축소)', text) and "%p" not in text:</a:t>
            </a:r>
          </a:p>
          <a:p>
            <a:pPr>
              <a:spcAft>
                <a:spcPts val="0"/>
              </a:spcAft>
            </a:pPr>
            <a:r>
              <a:rPr sz="1100">
                <a:solidFill>
                  <a:srgbClr val="333333"/>
                </a:solidFill>
                <a:latin typeface="맑은 고딕"/>
              </a:rPr>
              <a:t>        errors.append("비중(구성비) 변화 표현에는 %p 표기가 필요한지 확인 필요")</a:t>
            </a:r>
          </a:p>
          <a:p>
            <a:pPr>
              <a:spcAft>
                <a:spcPts val="0"/>
              </a:spcAft>
            </a:pPr>
            <a:r>
              <a:rPr sz="1100">
                <a:solidFill>
                  <a:srgbClr val="333333"/>
                </a:solidFill>
                <a:latin typeface="맑은 고딕"/>
              </a:rPr>
              <a:t>    return errors</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errors = check_formatting_errors(unified_text)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원본 대비 전체 수치 교차 검증</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전체 문서 수치 교차 검증 함수</a:t>
            </a:r>
          </a:p>
        </p:txBody>
      </p:sp>
      <p:sp>
        <p:nvSpPr>
          <p:cNvPr id="5" name="TextBox 4"/>
          <p:cNvSpPr txBox="1"/>
          <p:nvPr/>
        </p:nvSpPr>
        <p:spPr>
          <a:xfrm>
            <a:off x="457200" y="1828800"/>
            <a:ext cx="11277295" cy="1203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cross_check_all_numbers(final_text: str, data: dict) -&gt; dict:</a:t>
            </a:r>
          </a:p>
          <a:p>
            <a:pPr>
              <a:spcAft>
                <a:spcPts val="0"/>
              </a:spcAft>
            </a:pPr>
            <a:r>
              <a:rPr sz="1100">
                <a:solidFill>
                  <a:srgbClr val="333333"/>
                </a:solidFill>
                <a:latin typeface="맑은 고딕"/>
              </a:rPr>
              <a:t>    """이전 차시에서 만든 find_unverified_numbers를 재사용해 최종본 전체를 검증한다."""</a:t>
            </a:r>
          </a:p>
          <a:p>
            <a:pPr>
              <a:spcAft>
                <a:spcPts val="0"/>
              </a:spcAft>
            </a:pPr>
            <a:r>
              <a:rPr sz="1100">
                <a:solidFill>
                  <a:srgbClr val="333333"/>
                </a:solidFill>
                <a:latin typeface="맑은 고딕"/>
              </a:rPr>
              <a:t>    unmatched = find_unverified_numbers(final_text, data)</a:t>
            </a:r>
          </a:p>
          <a:p>
            <a:pPr>
              <a:spcAft>
                <a:spcPts val="0"/>
              </a:spcAft>
            </a:pPr>
            <a:r>
              <a:rPr sz="1100">
                <a:solidFill>
                  <a:srgbClr val="333333"/>
                </a:solidFill>
                <a:latin typeface="맑은 고딕"/>
              </a:rPr>
              <a:t>    return {"통과": len(unmatched) == 0, "불일치수치": unmatched}</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result = cross_check_all_numbers(unified_text,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3. 자동 교정·감수 기능 구현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감수(Review) 프롬프트 설계, AI 감수자 역할 부여</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감수 프롬프트 예시</a:t>
            </a:r>
          </a:p>
        </p:txBody>
      </p:sp>
      <p:sp>
        <p:nvSpPr>
          <p:cNvPr id="5" name="TextBox 4"/>
          <p:cNvSpPr txBox="1"/>
          <p:nvPr/>
        </p:nvSpPr>
        <p:spPr>
          <a:xfrm>
            <a:off x="457200" y="1828800"/>
            <a:ext cx="11277295" cy="1381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당신은 통계 보도자료 전문 감수자입니다. 아래 원본 데이터와 완성된 보도자료를 대조하여</a:t>
            </a:r>
          </a:p>
          <a:p>
            <a:pPr>
              <a:spcAft>
                <a:spcPts val="0"/>
              </a:spcAft>
            </a:pPr>
            <a:r>
              <a:rPr sz="1100">
                <a:solidFill>
                  <a:srgbClr val="333333"/>
                </a:solidFill>
                <a:latin typeface="맑은 고딕"/>
              </a:rPr>
              <a:t>다음 관점에서 문제점을 지적해 주세요: ① 수치 오류 ② 과장된 표현 ③ 문체 불일치 ④ 논리적 비약</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원본 데이터: {계산지표, 통계해석결과}</a:t>
            </a:r>
          </a:p>
          <a:p>
            <a:pPr>
              <a:spcAft>
                <a:spcPts val="0"/>
              </a:spcAft>
            </a:pPr>
            <a:r>
              <a:rPr sz="1100">
                <a:solidFill>
                  <a:srgbClr val="333333"/>
                </a:solidFill>
                <a:latin typeface="맑은 고딕"/>
              </a:rPr>
              <a:t>완성된 보도자료: {unified_text}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결과는 JSON 형식의 지적사항 리스트로 답하십시오.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감수 프롬프트 호출 및 결과 파싱</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감수 실행 함수</a:t>
            </a:r>
          </a:p>
        </p:txBody>
      </p:sp>
      <p:sp>
        <p:nvSpPr>
          <p:cNvPr id="5" name="TextBox 4"/>
          <p:cNvSpPr txBox="1"/>
          <p:nvPr/>
        </p:nvSpPr>
        <p:spPr>
          <a:xfrm>
            <a:off x="457200" y="1828800"/>
            <a:ext cx="11277295" cy="5826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review_press_release(final_text: str, data: dict) -&gt; list:</a:t>
            </a:r>
          </a:p>
          <a:p>
            <a:pPr>
              <a:spcAft>
                <a:spcPts val="0"/>
              </a:spcAft>
            </a:pPr>
            <a:r>
              <a:rPr sz="1100">
                <a:solidFill>
                  <a:srgbClr val="333333"/>
                </a:solidFill>
                <a:latin typeface="맑은 고딕"/>
              </a:rPr>
              <a:t>    # 감수자가 "역대 최대"·"몇 개월 연속 증가" 같은 표현을 근거 없는 과장으로</a:t>
            </a:r>
          </a:p>
          <a:p>
            <a:pPr>
              <a:spcAft>
                <a:spcPts val="0"/>
              </a:spcAft>
            </a:pPr>
            <a:r>
              <a:rPr sz="1100">
                <a:solidFill>
                  <a:srgbClr val="333333"/>
                </a:solidFill>
                <a:latin typeface="맑은 고딕"/>
              </a:rPr>
              <a:t>    # 오판하지 않도록, 계산지표뿐 아니라 통계해석결과·품목별지표 등 관련 근거</a:t>
            </a:r>
          </a:p>
          <a:p>
            <a:pPr>
              <a:spcAft>
                <a:spcPts val="0"/>
              </a:spcAft>
            </a:pPr>
            <a:r>
              <a:rPr sz="1100">
                <a:solidFill>
                  <a:srgbClr val="333333"/>
                </a:solidFill>
                <a:latin typeface="맑은 고딕"/>
              </a:rPr>
              <a:t>    # 자료를 전부 함께 제공한다.</a:t>
            </a:r>
          </a:p>
          <a:p>
            <a:pPr>
              <a:spcAft>
                <a:spcPts val="0"/>
              </a:spcAft>
            </a:pPr>
            <a:r>
              <a:rPr sz="1100">
                <a:solidFill>
                  <a:srgbClr val="333333"/>
                </a:solidFill>
                <a:latin typeface="맑은 고딕"/>
              </a:rPr>
              <a:t>    근거자료 = {</a:t>
            </a:r>
          </a:p>
          <a:p>
            <a:pPr>
              <a:spcAft>
                <a:spcPts val="0"/>
              </a:spcAft>
            </a:pPr>
            <a:r>
              <a:rPr sz="1100">
                <a:solidFill>
                  <a:srgbClr val="333333"/>
                </a:solidFill>
                <a:latin typeface="맑은 고딕"/>
              </a:rPr>
              <a:t>        k: data[k]</a:t>
            </a:r>
          </a:p>
          <a:p>
            <a:pPr>
              <a:spcAft>
                <a:spcPts val="0"/>
              </a:spcAft>
            </a:pPr>
            <a:r>
              <a:rPr sz="1100">
                <a:solidFill>
                  <a:srgbClr val="333333"/>
                </a:solidFill>
                <a:latin typeface="맑은 고딕"/>
              </a:rPr>
              <a:t>        for k in ("계산지표", "통계해석결과", "품목별지표", "역대최대여부", "최근3개월증감률")</a:t>
            </a:r>
          </a:p>
          <a:p>
            <a:pPr>
              <a:spcAft>
                <a:spcPts val="0"/>
              </a:spcAft>
            </a:pPr>
            <a:r>
              <a:rPr sz="1100">
                <a:solidFill>
                  <a:srgbClr val="333333"/>
                </a:solidFill>
                <a:latin typeface="맑은 고딕"/>
              </a:rPr>
              <a:t>        if k in data</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prompt = f"""당신은 통계 보도자료 전문 감수자입니다. 아래 원본 데이터와 완성된</a:t>
            </a:r>
          </a:p>
          <a:p>
            <a:pPr>
              <a:spcAft>
                <a:spcPts val="0"/>
              </a:spcAft>
            </a:pPr>
            <a:r>
              <a:rPr sz="1100">
                <a:solidFill>
                  <a:srgbClr val="333333"/>
                </a:solidFill>
                <a:latin typeface="맑은 고딕"/>
              </a:rPr>
              <a:t>보도자료를 대조하여 수치 오류, 과장된 표현, 문체 불일치, 논리적 비약을 지적해 주세요.</a:t>
            </a:r>
          </a:p>
          <a:p>
            <a:pPr>
              <a:spcAft>
                <a:spcPts val="0"/>
              </a:spcAft>
            </a:pPr>
            <a:r>
              <a:rPr sz="1100">
                <a:solidFill>
                  <a:srgbClr val="333333"/>
                </a:solidFill>
                <a:latin typeface="맑은 고딕"/>
              </a:rPr>
              <a:t>지적사항은 최대 5건까지, 항목당 한 문장으로 간결하게 작성하십시오.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원본 데이터: {json.dumps(근거자료, ensure_ascii=False)}</a:t>
            </a:r>
          </a:p>
          <a:p>
            <a:pPr>
              <a:spcAft>
                <a:spcPts val="0"/>
              </a:spcAft>
            </a:pPr>
            <a:r>
              <a:rPr sz="1100">
                <a:solidFill>
                  <a:srgbClr val="333333"/>
                </a:solidFill>
                <a:latin typeface="맑은 고딕"/>
              </a:rPr>
              <a:t>완성된 보도자료: {final_text}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JSON 배열 형식으로만 답하십시오. 예: [{{"유형": "...", "위치": "...", "지적사항":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message = client.messages.create(</a:t>
            </a:r>
          </a:p>
          <a:p>
            <a:pPr>
              <a:spcAft>
                <a:spcPts val="0"/>
              </a:spcAft>
            </a:pPr>
            <a:r>
              <a:rPr sz="1100">
                <a:solidFill>
                  <a:srgbClr val="333333"/>
                </a:solidFill>
                <a:latin typeface="맑은 고딕"/>
              </a:rPr>
              <a:t>        model=MODEL_NAME, max_tokens=1500,  # MODEL_NAME, parse_json_response 모두 이전 차시에서 정의한 것을 재사용</a:t>
            </a:r>
          </a:p>
          <a:p>
            <a:pPr>
              <a:spcAft>
                <a:spcPts val="0"/>
              </a:spcAft>
            </a:pPr>
            <a:r>
              <a:rPr sz="1100">
                <a:solidFill>
                  <a:srgbClr val="333333"/>
                </a:solidFill>
                <a:latin typeface="맑은 고딕"/>
              </a:rPr>
              <a:t>        messages=[{"role": "user", "content": prompt}]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try:</a:t>
            </a:r>
          </a:p>
          <a:p>
            <a:pPr>
              <a:spcAft>
                <a:spcPts val="0"/>
              </a:spcAft>
            </a:pPr>
            <a:r>
              <a:rPr sz="1100">
                <a:solidFill>
                  <a:srgbClr val="333333"/>
                </a:solidFill>
                <a:latin typeface="맑은 고딕"/>
              </a:rPr>
              <a:t>        return parse_json_response(message.content[0].text)</a:t>
            </a:r>
          </a:p>
          <a:p>
            <a:pPr>
              <a:spcAft>
                <a:spcPts val="0"/>
              </a:spcAft>
            </a:pPr>
            <a:r>
              <a:rPr sz="1100">
                <a:solidFill>
                  <a:srgbClr val="333333"/>
                </a:solidFill>
                <a:latin typeface="맑은 고딕"/>
              </a:rPr>
              <a:t>    except (ValueError, json.JSONDecodeError):</a:t>
            </a:r>
          </a:p>
          <a:p>
            <a:pPr>
              <a:spcAft>
                <a:spcPts val="0"/>
              </a:spcAft>
            </a:pPr>
            <a:r>
              <a:rPr sz="1100">
                <a:solidFill>
                  <a:srgbClr val="333333"/>
                </a:solidFill>
                <a:latin typeface="맑은 고딕"/>
              </a:rPr>
              <a:t>        return [{</a:t>
            </a:r>
          </a:p>
          <a:p>
            <a:pPr>
              <a:spcAft>
                <a:spcPts val="0"/>
              </a:spcAft>
            </a:pPr>
            <a:r>
              <a:rPr sz="1100">
                <a:solidFill>
                  <a:srgbClr val="333333"/>
                </a:solidFill>
                <a:latin typeface="맑은 고딕"/>
              </a:rPr>
              <a:t>            "유형": "감수 응답 파싱 실패",</a:t>
            </a:r>
          </a:p>
          <a:p>
            <a:pPr>
              <a:spcAft>
                <a:spcPts val="0"/>
              </a:spcAft>
            </a:pPr>
            <a:r>
              <a:rPr sz="1100">
                <a:solidFill>
                  <a:srgbClr val="333333"/>
                </a:solidFill>
                <a:latin typeface="맑은 고딕"/>
              </a:rPr>
              <a:t>            "위치": "-",</a:t>
            </a:r>
          </a:p>
          <a:p>
            <a:pPr>
              <a:spcAft>
                <a:spcPts val="0"/>
              </a:spcAft>
            </a:pPr>
            <a:r>
              <a:rPr sz="1100">
                <a:solidFill>
                  <a:srgbClr val="333333"/>
                </a:solidFill>
                <a:latin typeface="맑은 고딕"/>
              </a:rPr>
              <a:t>            "지적사항": "AI 감수 응답이 잘리거나 JSON 형식이 아니어서 자동으로 해석하지 못했습니다.",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review_result = review_press_release(unified_text,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감수 결과 예시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AI 감수자가 반환한 지적사항 예시</a:t>
            </a:r>
          </a:p>
        </p:txBody>
      </p:sp>
      <p:sp>
        <p:nvSpPr>
          <p:cNvPr id="5" name="TextBox 4"/>
          <p:cNvSpPr txBox="1"/>
          <p:nvPr/>
        </p:nvSpPr>
        <p:spPr>
          <a:xfrm>
            <a:off x="457200" y="1828800"/>
            <a:ext cx="11277295" cy="848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 "유형": "문체 불일치", "위치": "본문 2단락", "지적사항": "이전 단락과 달리 개조식 표현이 남아있음" },</a:t>
            </a:r>
          </a:p>
          <a:p>
            <a:pPr>
              <a:spcAft>
                <a:spcPts val="0"/>
              </a:spcAft>
            </a:pPr>
            <a:r>
              <a:rPr sz="1100">
                <a:solidFill>
                  <a:srgbClr val="333333"/>
                </a:solidFill>
                <a:latin typeface="맑은 고딕"/>
              </a:rPr>
              <a:t>  { "유형": "과장된 표현", "위치": "부제", "지적사항": "'지속 확대'는 2개월치 데이터만으로 단정하기 이름" }</a:t>
            </a:r>
          </a:p>
          <a:p>
            <a:pPr>
              <a:spcAft>
                <a:spcPts val="0"/>
              </a:spcAft>
            </a:pPr>
            <a:r>
              <a:rPr sz="1100">
                <a:solidFill>
                  <a:srgbClr val="333333"/>
                </a:solidFill>
                <a:latin typeface="맑은 고딕"/>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수정 반영 워크플로우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감수 결과를 반영하는 절차</a:t>
            </a:r>
          </a:p>
          <a:p>
            <a:pPr>
              <a:spcAft>
                <a:spcPts val="600"/>
              </a:spcAft>
            </a:pPr>
            <a:r>
              <a:rPr sz="1600">
                <a:solidFill>
                  <a:srgbClr val="222222"/>
                </a:solidFill>
                <a:latin typeface="맑은 고딕"/>
              </a:rPr>
              <a:t>1. AI 감수 결과의 지적사항 목록 확인</a:t>
            </a:r>
          </a:p>
          <a:p>
            <a:pPr>
              <a:spcAft>
                <a:spcPts val="600"/>
              </a:spcAft>
            </a:pPr>
            <a:r>
              <a:rPr sz="1600">
                <a:solidFill>
                  <a:srgbClr val="222222"/>
                </a:solidFill>
                <a:latin typeface="맑은 고딕"/>
              </a:rPr>
              <a:t>2. 타당한 지적사항만 선별 (사람의 최종 판단)</a:t>
            </a:r>
          </a:p>
          <a:p>
            <a:pPr>
              <a:spcAft>
                <a:spcPts val="600"/>
              </a:spcAft>
            </a:pPr>
            <a:r>
              <a:rPr sz="1600">
                <a:solidFill>
                  <a:srgbClr val="222222"/>
                </a:solidFill>
                <a:latin typeface="맑은 고딕"/>
              </a:rPr>
              <a:t>3. 해당 부분만 재작성 프롬프트로 재생성하거나 직접 수정</a:t>
            </a:r>
          </a:p>
          <a:p>
            <a:pPr>
              <a:spcAft>
                <a:spcPts val="600"/>
              </a:spcAft>
            </a:pPr>
            <a:r>
              <a:rPr sz="1600">
                <a:solidFill>
                  <a:srgbClr val="222222"/>
                </a:solidFill>
                <a:latin typeface="맑은 고딕"/>
              </a:rPr>
              <a:t>4. 수정된 최종본에 대해 수치 교차 검증 재실행</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최종 검수 통과 기준 체크리스트</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배포 전 최종 점검표 (이전 차시 보안 점검표와 연계)</a:t>
            </a:r>
          </a:p>
          <a:p>
            <a:pPr>
              <a:spcAft>
                <a:spcPts val="600"/>
              </a:spcAft>
            </a:pPr>
            <a:r>
              <a:rPr sz="1600">
                <a:solidFill>
                  <a:srgbClr val="222222"/>
                </a:solidFill>
                <a:latin typeface="맑은 고딕"/>
              </a:rPr>
              <a:t>1. 문체가 보도자료 전체에서 일관되게 유지되는가</a:t>
            </a:r>
          </a:p>
          <a:p>
            <a:pPr>
              <a:spcAft>
                <a:spcPts val="600"/>
              </a:spcAft>
            </a:pPr>
            <a:r>
              <a:rPr sz="1600">
                <a:solidFill>
                  <a:srgbClr val="222222"/>
                </a:solidFill>
                <a:latin typeface="맑은 고딕"/>
              </a:rPr>
              <a:t>2. 모든 수치가 원본 데이터와 교차 검증을 통과하였는가</a:t>
            </a:r>
          </a:p>
          <a:p>
            <a:pPr>
              <a:spcAft>
                <a:spcPts val="600"/>
              </a:spcAft>
            </a:pPr>
            <a:r>
              <a:rPr sz="1600">
                <a:solidFill>
                  <a:srgbClr val="222222"/>
                </a:solidFill>
                <a:latin typeface="맑은 고딕"/>
              </a:rPr>
              <a:t>3. AI 감수자가 지적한 사항이 검토되고 필요한 부분은 수정되었는가</a:t>
            </a:r>
          </a:p>
          <a:p>
            <a:pPr>
              <a:spcAft>
                <a:spcPts val="600"/>
              </a:spcAft>
            </a:pPr>
            <a:r>
              <a:rPr sz="1600">
                <a:solidFill>
                  <a:srgbClr val="222222"/>
                </a:solidFill>
                <a:latin typeface="맑은 고딕"/>
              </a:rPr>
              <a:t>4. 이전 차시에서 배운 보안 점검표(비밀키 관리, 개인정보 마스킹 등)도 함께 충족되는가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표준 데이터에 검수결과 필드 추가</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표준 JSON 확장, 검수결과 필드 추가</a:t>
            </a:r>
          </a:p>
        </p:txBody>
      </p:sp>
      <p:sp>
        <p:nvSpPr>
          <p:cNvPr id="5" name="TextBox 4"/>
          <p:cNvSpPr txBox="1"/>
          <p:nvPr/>
        </p:nvSpPr>
        <p:spPr>
          <a:xfrm>
            <a:off x="457200" y="1828800"/>
            <a:ext cx="11277295" cy="1737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"최종본": "통계청은 2026년 1월 온라인쇼핑 거래액이 201,250억 원으로 집계되었다고 밝혔다...",</a:t>
            </a:r>
          </a:p>
          <a:p>
            <a:pPr>
              <a:spcAft>
                <a:spcPts val="0"/>
              </a:spcAft>
            </a:pPr>
            <a:r>
              <a:rPr sz="1100">
                <a:solidFill>
                  <a:srgbClr val="333333"/>
                </a:solidFill>
                <a:latin typeface="맑은 고딕"/>
              </a:rPr>
              <a:t>  "검수결과": {</a:t>
            </a:r>
          </a:p>
          <a:p>
            <a:pPr>
              <a:spcAft>
                <a:spcPts val="0"/>
              </a:spcAft>
            </a:pPr>
            <a:r>
              <a:rPr sz="1100">
                <a:solidFill>
                  <a:srgbClr val="333333"/>
                </a:solidFill>
                <a:latin typeface="맑은 고딕"/>
              </a:rPr>
              <a:t>    "수치검증통과여부": true,</a:t>
            </a:r>
          </a:p>
          <a:p>
            <a:pPr>
              <a:spcAft>
                <a:spcPts val="0"/>
              </a:spcAft>
            </a:pPr>
            <a:r>
              <a:rPr sz="1100">
                <a:solidFill>
                  <a:srgbClr val="333333"/>
                </a:solidFill>
                <a:latin typeface="맑은 고딕"/>
              </a:rPr>
              <a:t>    "AI감수지적사항": [</a:t>
            </a:r>
          </a:p>
          <a:p>
            <a:pPr>
              <a:spcAft>
                <a:spcPts val="0"/>
              </a:spcAft>
            </a:pPr>
            <a:r>
              <a:rPr sz="1100">
                <a:solidFill>
                  <a:srgbClr val="333333"/>
                </a:solidFill>
                <a:latin typeface="맑은 고딕"/>
              </a:rPr>
              <a:t>      { "유형": "문체 불일치", "위치": "본문 2단락", "반영여부": "수정완료"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정리하기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191000"/>
          </a:xfrm>
          <a:prstGeom prst="rect">
            <a:avLst/>
          </a:prstGeom>
          <a:noFill/>
        </p:spPr>
        <p:txBody>
          <a:bodyPr wrap="square">
            <a:noAutofit/>
          </a:bodyPr>
          <a:lstStyle/>
          <a:p>
            <a:pPr>
              <a:spcAft>
                <a:spcPts val="600"/>
              </a:spcAft>
            </a:pPr>
            <a:r>
              <a:rPr sz="1600">
                <a:solidFill>
                  <a:srgbClr val="222222"/>
                </a:solidFill>
                <a:latin typeface="맑은 고딕"/>
              </a:rPr>
              <a:t>1. 여러 차시에 걸친 초안을 하나의 표준 문체로 통일</a:t>
            </a:r>
          </a:p>
          <a:p>
            <a:pPr lvl="1">
              <a:spcAft>
                <a:spcPts val="600"/>
              </a:spcAft>
            </a:pPr>
            <a:r>
              <a:rPr sz="1400">
                <a:solidFill>
                  <a:srgbClr val="222222"/>
                </a:solidFill>
                <a:latin typeface="맑은 고딕"/>
              </a:rPr>
              <a:t>• 객관적 서술체, 능동적 화자 명시, 절제된 수식어라는 보도자료 표준 문체의 세 가지 특징을 배우고, unify_style 함수로 사실과 수치는 그대로 둔 채 표현만 통일하는 방법을 익혔습니다.</a:t>
            </a:r>
          </a:p>
          <a:p>
            <a:pPr lvl="1">
              <a:spcAft>
                <a:spcPts val="600"/>
              </a:spcAft>
            </a:pPr>
            <a:r>
              <a:rPr sz="1400">
                <a:solidFill>
                  <a:srgbClr val="222222"/>
                </a:solidFill>
                <a:latin typeface="맑은 고딕"/>
              </a:rPr>
              <a:t>• assemble_full_text 함수로 헤드라인의 리드문과 여러 본문 단락을 하나의 텍스트로 조립하는 방법도 함께 배웠습니다.</a:t>
            </a:r>
          </a:p>
          <a:p>
            <a:pPr>
              <a:spcAft>
                <a:spcPts val="600"/>
              </a:spcAft>
            </a:pPr>
            <a:r>
              <a:rPr sz="1600">
                <a:solidFill>
                  <a:srgbClr val="222222"/>
                </a:solidFill>
                <a:latin typeface="맑은 고딕"/>
              </a:rPr>
              <a:t>2. 정규표현식과 수치 교차 검증으로 표기 오류 자동 검수</a:t>
            </a:r>
          </a:p>
          <a:p>
            <a:pPr lvl="1">
              <a:spcAft>
                <a:spcPts val="600"/>
              </a:spcAft>
            </a:pPr>
            <a:r>
              <a:rPr sz="1400">
                <a:solidFill>
                  <a:srgbClr val="222222"/>
                </a:solidFill>
                <a:latin typeface="맑은 고딕"/>
              </a:rPr>
              <a:t>• %와 %p 혼동, 천 단위 콤마 누락, 단위 표기 불일치 같은 흔한 오류를 check_formatting_errors 함수로 자동 점검하는 방법을 배웠습니다.</a:t>
            </a:r>
          </a:p>
          <a:p>
            <a:pPr lvl="1">
              <a:spcAft>
                <a:spcPts val="600"/>
              </a:spcAft>
            </a:pPr>
            <a:r>
              <a:rPr sz="1400">
                <a:solidFill>
                  <a:srgbClr val="222222"/>
                </a:solidFill>
                <a:latin typeface="맑은 고딕"/>
              </a:rPr>
              <a:t>• cross_check_all_numbers 함수로 완성된 보도자료 전체의 모든 숫자를 원본 데이터와 다시 한번 대조하는 방법도 익혔습니다.</a:t>
            </a:r>
          </a:p>
          <a:p>
            <a:pPr>
              <a:spcAft>
                <a:spcPts val="600"/>
              </a:spcAft>
            </a:pPr>
            <a:r>
              <a:rPr sz="1600">
                <a:solidFill>
                  <a:srgbClr val="222222"/>
                </a:solidFill>
                <a:latin typeface="맑은 고딕"/>
              </a:rPr>
              <a:t>3. AI 감수자 역할 부여와 최종 반영 절차</a:t>
            </a:r>
          </a:p>
          <a:p>
            <a:pPr lvl="1">
              <a:spcAft>
                <a:spcPts val="600"/>
              </a:spcAft>
            </a:pPr>
            <a:r>
              <a:rPr sz="1400">
                <a:solidFill>
                  <a:srgbClr val="222222"/>
                </a:solidFill>
                <a:latin typeface="맑은 고딕"/>
              </a:rPr>
              <a:t>• 작성자와는 다른 제3자 감수자 역할을 AI에게 부여해, 수치 오류·과장된 표현·문체 불일치·논리적 비약을 지적받는 review_press_release 함수를 구현했습니다.</a:t>
            </a:r>
          </a:p>
          <a:p>
            <a:pPr lvl="1">
              <a:spcAft>
                <a:spcPts val="600"/>
              </a:spcAft>
            </a:pPr>
            <a:r>
              <a:rPr sz="1400">
                <a:solidFill>
                  <a:srgbClr val="222222"/>
                </a:solidFill>
                <a:latin typeface="맑은 고딕"/>
              </a:rPr>
              <a:t>• 감수 결과를 사람이 선별해서 반영하고, 수정 후에는 반드시 수치 교차 검증을 다시 실행하는 최종 워크플로우까지 확인했습니다.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참고자료</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 Anthropic Claude 공식 사용 가이드: https://docs.anthropic.com/</a:t>
            </a:r>
          </a:p>
          <a:p>
            <a:pPr>
              <a:spcAft>
                <a:spcPts val="600"/>
              </a:spcAft>
            </a:pPr>
            <a:r>
              <a:rPr sz="1600">
                <a:solidFill>
                  <a:srgbClr val="222222"/>
                </a:solidFill>
                <a:latin typeface="맑은 고딕"/>
              </a:rPr>
              <a:t>• Claude Code 사용법: https://docs.anthropic.com/claude-code/</a:t>
            </a:r>
          </a:p>
          <a:p>
            <a:pPr>
              <a:spcAft>
                <a:spcPts val="600"/>
              </a:spcAft>
            </a:pPr>
            <a:r>
              <a:rPr sz="1600">
                <a:solidFill>
                  <a:srgbClr val="222222"/>
                </a:solidFill>
                <a:latin typeface="맑은 고딕"/>
              </a:rPr>
              <a:t>• KOSIS 국가통계포털: https://kosis.kr/</a:t>
            </a:r>
          </a:p>
          <a:p>
            <a:pPr>
              <a:spcAft>
                <a:spcPts val="600"/>
              </a:spcAft>
            </a:pPr>
            <a:r>
              <a:rPr sz="1600">
                <a:solidFill>
                  <a:srgbClr val="222222"/>
                </a:solidFill>
                <a:latin typeface="맑은 고딕"/>
              </a:rPr>
              <a:t>• MDIS 마이크로데이터 통합서비스: https://mdis.mods.go.kr/</a:t>
            </a:r>
          </a:p>
          <a:p>
            <a:pPr>
              <a:spcAft>
                <a:spcPts val="600"/>
              </a:spcAft>
            </a:pPr>
            <a:r>
              <a:rPr sz="1600">
                <a:solidFill>
                  <a:srgbClr val="222222"/>
                </a:solidFill>
                <a:latin typeface="맑은 고딕"/>
              </a:rPr>
              <a:t>• SGIS 통계지리정보서비스: https://sgis.mods.go.kr/</a:t>
            </a:r>
          </a:p>
          <a:p>
            <a:pPr>
              <a:spcAft>
                <a:spcPts val="600"/>
              </a:spcAft>
            </a:pPr>
            <a:r>
              <a:rPr sz="1600">
                <a:solidFill>
                  <a:srgbClr val="222222"/>
                </a:solidFill>
                <a:latin typeface="맑은 고딕"/>
              </a:rPr>
              <a:t>• 통계청 공식 홈페이지 (통계 공표 및 보도자료): https://kostat.go.kr/</a:t>
            </a:r>
          </a:p>
          <a:p>
            <a:pPr>
              <a:spcAft>
                <a:spcPts val="600"/>
              </a:spcAft>
            </a:pPr>
            <a:r>
              <a:rPr sz="1600">
                <a:solidFill>
                  <a:srgbClr val="222222"/>
                </a:solidFill>
                <a:latin typeface="맑은 고딕"/>
              </a:rPr>
              <a:t>• 대한민국 정책브리핑 (공공 보도자료 작성 및 브리핑): https://www.korea.kr/</a:t>
            </a:r>
          </a:p>
          <a:p>
            <a:pPr>
              <a:spcAft>
                <a:spcPts val="600"/>
              </a:spcAft>
            </a:pPr>
            <a:r>
              <a:rPr sz="1600">
                <a:solidFill>
                  <a:srgbClr val="222222"/>
                </a:solidFill>
                <a:latin typeface="맑은 고딕"/>
              </a:rPr>
              <a:t>• 국가법령정보센터 (통계법 제27조의2 - 공표 전 통계 보안): https://www.law.go.kr/</a:t>
            </a:r>
          </a:p>
          <a:p>
            <a:pPr>
              <a:spcAft>
                <a:spcPts val="600"/>
              </a:spcAft>
            </a:pPr>
            <a:r>
              <a:rPr sz="1600">
                <a:solidFill>
                  <a:srgbClr val="222222"/>
                </a:solidFill>
                <a:latin typeface="맑은 고딕"/>
              </a:rPr>
              <a:t>• 국가정보원 (국가·공공기관 생성형 AI 활용 보안 가이드라인): https://www.nis.go.kr/</a:t>
            </a:r>
          </a:p>
          <a:p>
            <a:pPr>
              <a:spcAft>
                <a:spcPts val="600"/>
              </a:spcAft>
            </a:pPr>
            <a:r>
              <a:rPr sz="1600">
                <a:solidFill>
                  <a:srgbClr val="222222"/>
                </a:solidFill>
                <a:latin typeface="맑은 고딕"/>
              </a:rPr>
              <a:t>• 개인정보보호위원회 (개인정보 보호 및 마스킹 수칙): https://www.pipc.go.kr/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