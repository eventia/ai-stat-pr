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여러 차시를 거치며 데이터 수집부터 최종 검수까지 필요한 모든 부품을 하나씩 만들어왔습니다. 화면에 정리된 것처럼, 초반 차시에서 전체 개념과 보안 원칙을 배우고, 이어지는 차시들에서 데이터를 정제하고 핵심 키워드와 문장을 추출했고, 중반 차시들에서 LLM 요약과 통계 해석, 그래프 설명문을 만들었고, 최근 차시들에서 제목·부제·리드문·본문을 작성하고 문체 통일과 감수까지 완료했습니다. 이번 마지막 시간에는 이 부품들을 하나의 실행 스크립트로 연결하여, 원자료 입력 하나만으로 검수까지 끝난 보도자료가 자동으로 완성되는 시스템을 구축합니다.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처음에 그림으로만 보았던 전체 시스템 구조도를, 이제는 각 단계마다 실제로 작동하는 코드를 모두 갖춘 상태로 완성할 수 있게 되었습니다. 입력, 정제, 계산, AI 문장 작성, 검증까지 각 단계는 서로 다른 차시에서 하나씩 만들어왔습니다. 이번 차시는 바로 이 여섯 단계를 하나의 파이프라인으로 연결하는 작업입니다.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시스템을 만들기 전에, 지금까지 각 차시에서 만든 함수들을 한 번에 정리해보는 것이 중요합니다. 이 표가 곧 오늘 작성할 메인 스크립트의 설계도가 됩니다. 표를 순서대로 훑어보시면, 입력부터 저장까지 열네 개 남짓한 함수가 각 차시에서 하나씩 만들어졌다는 것을 확인할 수 있습니다. 특히 "참고용 요약"과 "NLP 분석" 두 줄에는 "참고용"이라는 표시가 붙어 있는데, 이 두 결과는 최종 보도자료의 숫자나 사실을 결정하는 데는 쓰이지 않고 AI가 표현을 구상할 때 참고하는 보조 자료라는 점을 다시 한번 기억해 주세요. 사실 확정은 언제나 계산 단계의 결과가 담당합니다.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각 차시에서 배운 함수들을 순서대로 호출하는 하나의 main 함수로 정리했습니다. 파일 경로 하나만 입력하면 이 함수 안에서 정제, 분석, 계산, 작성, 검수, 저장이 순차적으로 자동 실행됩니다. 코드를 자세히 보시면 몇 가지 설계 포인트가 있습니다. 첫째, 그래프 생성 조건이 "품목별지표가 있거나 월별이력이 있으면"으로 되어 있는데, 이렇게 두 조건을 or로 묶어야 품목별 데이터가 없어도 월별 이력만 있으면 꺾은선그래프가 생성될 수 있습니다. 둘째, 계산 단계 바로 다음에 generate_summary를 호출해서 요약결과를 참고용으로 만들어두고, 이 결과가 뒤이은 generate_headline_set 안에서 제목 아이디어로 참고됩니다. 셋째, 검수 단계에서는 표기오류검사, 수치교차검증, AI감수지적사항 이렇게 세 가지를 모두 검수결과에 담습니다. 이 세 가지가 바로 처음부터 강조해온 "계산은 프로그램이, 검증은 교차 대조로"라는 3단계 안전장치가 최종 시스템에 실제로 반영된 모습입니다. AI 감수 하나만 믿는 것이 아니라, 자동 수치·표기 검증과 AI 감수를 함께 돌려야 안전하다는 것을 꼭 기억해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.env 파일에서 API 키를 불러온 뒤 main 함수를 실행하면, 터미널에 최종 완성된 보도자료 전문과 검수 결과가 출력됩니다. 이것이 이번 과정 전체를 통해 완성한 자동화 시스템의 최종 실행 모습입니다. 코드에서 "수치교차검증"의 통과 여부를 확인할 때 ["통과"]라는 키로 접근하는 것을 보실 수 있는데, 이건 수치교차검증 결과가 단순한 참/거짓 값이 아니라 "통과"와 "불일치수치"라는 두 개의 키를 가진 딕셔너리 형태이기 때문입니다. 불일치수치 목록까지 함께 확인하면 어떤 숫자가 문제였는지도 바로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운영 환경에서는 API 호출 실패, 파일 형식 오류 등 다양한 예외 상황이 발생할 수 있습니다. try-except 구문과 로그 파일을 함께 사용하면, 시스템에 문제가 생겼을 때 어느 단계에서 무엇이 잘못되었는지 빠르게 추적할 수 있습니다. 여기서 한 가지 실무 팁을 말씀드리면, logging.basicConfig를 설정할 때 encoding="utf-8"을 반드시 명시적으로 지정해야 합니다. 윈도우 환경에서는 이 인자를 생략하면 로그 파일이 시스템 기본 코드페이지로 저장되어서, 나중에 로그 파일을 열어보면 한글 메시지가 깨져서 보이는 경우가 있기 때문입니다. 작은 설정 하나지만, 실제 운영 중에 로그를 못 읽게 되면 문제 추적이 훨씬 어려워지므로 꼭 챙겨주세요.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실습에서는 완성된 텍스트를 파일로 저장하는 기본 형태까지 다룹니다. output 폴더를 미리 만들고, 문서정보의 제목을 파일명으로 삼아 최종본 텍스트를 UTF-8 인코딩으로 저장합니다. 실제 현업에서는 이 텍스트를 기관의 공식 보도자료 양식, 예를 들어 hwpx나 docx 같은 형식에 맞추어 표와 그래프 이미지까지 함께 삽입하는 후처리 단계가 추가로 필요합니다. 오늘 우리가 만든 것은 그 전 단계, 즉 검수까지 끝난 순수한 텍스트를 만드는 부분까지입니다.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엑셀 원자료 파일 경로 하나를 입력한 것만으로, 정제·분석·작성·검수를 모두 거친 완성된 보도자료 전문이 자동으로 출력되었습니다. 수치 교차 검증 통과 여부가 True이고 표기 오류 검사 결과가 빈 목록이라는 것은, 이 보도자료 안의 모든 숫자와 표기가 검증을 통과했다는 뜻입니다. 이것이 바로 처음에 설계했던 전체 파이프라인이 실제로 작동하는 것을 보여주는 최종 결과물입니다.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만든 시스템은 하나의 통계표를 기준으로 설계되었지만, 표준 데이터 구조인 JSON을 그대로 유지한다면 다른 통계 항목이나 여러 파일을 한 번에 처리하는 형태로도 확장할 수 있습니다. 다만 정확히 짚고 넘어갈 부분이 있습니다. 이 프로젝트에는 실제로 세 개의 진입점이 있는데, 서로 다른 것은 통계 항목이 아니라 원자료가 어디까지 가공되어 있는가입니다. main.py는 이미 계산이 끝난 표를 받아서 특이점 판별과 해석문장 생성만 담당합니다. main_price.py는 공공데이터포털의 개별 상품 가격이라는 진짜 원자료를 받아서 평균가격 계산부터 전부 직접 수행합니다. main_practice.py는 표본 사업체의 매출 신고라는 합성 원자료를 받아서 품목별 집계와 증감률 계산부터 전부 직접 수행합니다. 이 세 예시 모두 검증·문체통일·AI감수를 담당하는 모듈과 본문을 확장하는 함수는 전혀 수정 없이 그대로 재사용합니다. 반면 "계산" 단계, 즉 무엇을 원자료로 볼 것인지와 무엇을 어떻게 집계할 것인지는 통계표의 구조에 맞춰 매번 새로 작성해야 했습니다. 그래서 정확히 말하면 "표준 구조만 유지하면 완전히 같은 코드로 재사용된다"기보다는, "검증과 작성 단계는 재사용하고, 계산 단계만 원자료 형태에 맞춰 새로 작성한다"는 것이 이 시스템을 다른 통계표로 확장할 때의 현실적인 원칙입니다.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아무리 자동화가 잘 되어 있어도, 처음에 배운 보안 원칙과 사람의 최종 확인 절차는 예외 없이 유지되어야 합니다. API 비밀키가 .env로 안전하게 관리되고 있는지, 미공개 통계 데이터가 외부로 유출될 경로가 없는지, 개인정보 마스킹 전처리가 파이프라인에 포함되어 있는지, 그리고 무엇보다 자동 생성된 최종본에 대해 사람의 최종 승인 절차가 여전히 남아있는지 반드시 확인해야 합니다. 자동화는 반복 작업의 부담을 줄여주는 도구일 뿐, 최종 책임은 항상 담당자에게 있다는 점을 다시 한번 강조하고 싶습니다.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과정명 "AI를 활용한 통계 보도자료 작성(NLP+LLM)"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차시명 "Ch 10. AI 기반 보도자료 자동 생성 시스템 구축 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도입</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지금까지 여러 차시를 거치며 데이터 수집부터 최종 검수까지 필요한 모든 부품을 하나씩 만들어왔습니다. 이제 이번 마지막 시간에는 이 부품들을 하나의 실행 스크립트로 연결하여, 원자료 입력 하나만으로 검수까지 끝난 보도자료가 자동으로 완성되는 전체 시스템을 구축합니다. 입력부터 저장까지 전 과정을 하나의 main 함수로 통합하고, 실제로 실행해 결과를 확인하며, 앞으로 이 시스템을 다른 통계표나 더 큰 규모로 확장하려면 무엇을 더 고민해야 하는지까지 짚어봅니다.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학습내용, 학습목표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학습내용</a:t>
            </a:r>
          </a:p>
          <a:p>
            <a:pPr>
              <a:spcAft>
                <a:spcPts val="600"/>
              </a:spcAft>
            </a:pPr>
            <a:r>
              <a:rPr sz="1600">
                <a:solidFill>
                  <a:srgbClr val="222222"/>
                </a:solidFill>
                <a:latin typeface="맑은 고딕"/>
              </a:rPr>
              <a:t>1. 전체 자동화 워크플로우 설계</a:t>
            </a:r>
          </a:p>
          <a:p>
            <a:pPr>
              <a:spcAft>
                <a:spcPts val="600"/>
              </a:spcAft>
            </a:pPr>
            <a:r>
              <a:rPr sz="1600">
                <a:solidFill>
                  <a:srgbClr val="222222"/>
                </a:solidFill>
                <a:latin typeface="맑은 고딕"/>
              </a:rPr>
              <a:t>2. 분석·요약·작성·검수 기능 통합</a:t>
            </a:r>
          </a:p>
          <a:p>
            <a:pPr>
              <a:spcAft>
                <a:spcPts val="600"/>
              </a:spcAft>
            </a:pPr>
            <a:r>
              <a:rPr sz="1600">
                <a:solidFill>
                  <a:srgbClr val="222222"/>
                </a:solidFill>
                <a:latin typeface="맑은 고딕"/>
              </a:rPr>
              <a:t>학습목표</a:t>
            </a:r>
          </a:p>
          <a:p>
            <a:pPr>
              <a:spcAft>
                <a:spcPts val="600"/>
              </a:spcAft>
            </a:pPr>
            <a:r>
              <a:rPr sz="1600">
                <a:solidFill>
                  <a:srgbClr val="222222"/>
                </a:solidFill>
                <a:latin typeface="맑은 고딕"/>
              </a:rPr>
              <a:t>1. 지금까지 만든 함수들을 하나의 main 함수로 통합하여 설계할 수 있다.</a:t>
            </a:r>
          </a:p>
          <a:p>
            <a:pPr>
              <a:spcAft>
                <a:spcPts val="600"/>
              </a:spcAft>
            </a:pPr>
            <a:r>
              <a:rPr sz="1600">
                <a:solidFill>
                  <a:srgbClr val="222222"/>
                </a:solidFill>
                <a:latin typeface="맑은 고딕"/>
              </a:rPr>
              <a:t>2. 입력부터 저장까지 전체 파이프라인을 실행하고 결과를 검증할 수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1. 전체 자동화 워크플로우 설계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부품을 완성된 시스템으로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지금까지의 여정 되돌아보기</a:t>
            </a:r>
          </a:p>
          <a:p>
            <a:pPr>
              <a:spcAft>
                <a:spcPts val="600"/>
              </a:spcAft>
            </a:pPr>
            <a:r>
              <a:rPr sz="1600">
                <a:solidFill>
                  <a:srgbClr val="222222"/>
                </a:solidFill>
                <a:latin typeface="맑은 고딕"/>
              </a:rPr>
              <a:t>• 초반 차시: 전체 개념과 보안 원칙, 실습 환경을 이해</a:t>
            </a:r>
          </a:p>
          <a:p>
            <a:pPr>
              <a:spcAft>
                <a:spcPts val="600"/>
              </a:spcAft>
            </a:pPr>
            <a:r>
              <a:rPr sz="1600">
                <a:solidFill>
                  <a:srgbClr val="222222"/>
                </a:solidFill>
                <a:latin typeface="맑은 고딕"/>
              </a:rPr>
              <a:t>• 이어지는 차시: 데이터를 표준 구조로 정제하고 핵심 키워드·문장을 추출</a:t>
            </a:r>
          </a:p>
          <a:p>
            <a:pPr>
              <a:spcAft>
                <a:spcPts val="600"/>
              </a:spcAft>
            </a:pPr>
            <a:r>
              <a:rPr sz="1600">
                <a:solidFill>
                  <a:srgbClr val="222222"/>
                </a:solidFill>
                <a:latin typeface="맑은 고딕"/>
              </a:rPr>
              <a:t>• 중반 차시: LLM 요약, 통계 해석, 그래프 설명문을 생성</a:t>
            </a:r>
          </a:p>
          <a:p>
            <a:pPr>
              <a:spcAft>
                <a:spcPts val="600"/>
              </a:spcAft>
            </a:pPr>
            <a:r>
              <a:rPr sz="1600">
                <a:solidFill>
                  <a:srgbClr val="222222"/>
                </a:solidFill>
                <a:latin typeface="맑은 고딕"/>
              </a:rPr>
              <a:t>• 최근 차시: 제목·부제·리드문·본문을 작성하고 문체 통일 및 감수까지 완료</a:t>
            </a:r>
          </a:p>
          <a:p>
            <a:pPr>
              <a:spcAft>
                <a:spcPts val="600"/>
              </a:spcAft>
            </a:pPr>
            <a:r>
              <a:rPr sz="1600">
                <a:solidFill>
                  <a:srgbClr val="222222"/>
                </a:solidFill>
                <a:latin typeface="맑은 고딕"/>
              </a:rPr>
              <a:t>• 이번 차시 목표: 이 모든 기능을 하나로 연결한 완전 자동화 시스템(main.py) 구축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전체 시스템 아키텍처 재확인</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955800"/>
          </a:xfrm>
          <a:prstGeom prst="rect">
            <a:avLst/>
          </a:prstGeom>
          <a:noFill/>
        </p:spPr>
        <p:txBody>
          <a:bodyPr wrap="square">
            <a:noAutofit/>
          </a:bodyPr>
          <a:lstStyle/>
          <a:p>
            <a:pPr>
              <a:spcAft>
                <a:spcPts val="600"/>
              </a:spcAft>
            </a:pPr>
            <a:r>
              <a:rPr sz="1600">
                <a:solidFill>
                  <a:srgbClr val="222222"/>
                </a:solidFill>
                <a:latin typeface="맑은 고딕"/>
              </a:rPr>
              <a:t>처음에 설계한 6단계 아키텍처</a:t>
            </a:r>
          </a:p>
          <a:p>
            <a:pPr>
              <a:spcAft>
                <a:spcPts val="600"/>
              </a:spcAft>
            </a:pPr>
            <a:r>
              <a:rPr sz="1600">
                <a:solidFill>
                  <a:srgbClr val="222222"/>
                </a:solidFill>
                <a:latin typeface="맑은 고딕"/>
              </a:rPr>
              <a:t>1. 입력: 엑셀, PDF, 문서 자료</a:t>
            </a:r>
          </a:p>
          <a:p>
            <a:pPr>
              <a:spcAft>
                <a:spcPts val="600"/>
              </a:spcAft>
            </a:pPr>
            <a:r>
              <a:rPr sz="1600">
                <a:solidFill>
                  <a:srgbClr val="222222"/>
                </a:solidFill>
                <a:latin typeface="맑은 고딕"/>
              </a:rPr>
              <a:t>2. 데이터 정제 모듈</a:t>
            </a:r>
          </a:p>
          <a:p>
            <a:pPr>
              <a:spcAft>
                <a:spcPts val="600"/>
              </a:spcAft>
            </a:pPr>
            <a:r>
              <a:rPr sz="1600">
                <a:solidFill>
                  <a:srgbClr val="222222"/>
                </a:solidFill>
                <a:latin typeface="맑은 고딕"/>
              </a:rPr>
              <a:t>3. 수치 계산 프로그램</a:t>
            </a:r>
          </a:p>
          <a:p>
            <a:pPr>
              <a:spcAft>
                <a:spcPts val="600"/>
              </a:spcAft>
            </a:pPr>
            <a:r>
              <a:rPr sz="1600">
                <a:solidFill>
                  <a:srgbClr val="222222"/>
                </a:solidFill>
                <a:latin typeface="맑은 고딕"/>
              </a:rPr>
              <a:t>4. Claude Code AI 문장 작성</a:t>
            </a:r>
          </a:p>
          <a:p>
            <a:pPr>
              <a:spcAft>
                <a:spcPts val="600"/>
              </a:spcAft>
            </a:pPr>
            <a:r>
              <a:rPr sz="1600">
                <a:solidFill>
                  <a:srgbClr val="222222"/>
                </a:solidFill>
                <a:latin typeface="맑은 고딕"/>
              </a:rPr>
              <a:t>5. 수치 교차 검증 모듈</a:t>
            </a:r>
          </a:p>
          <a:p>
            <a:pPr>
              <a:spcAft>
                <a:spcPts val="600"/>
              </a:spcAft>
            </a:pPr>
            <a:r>
              <a:rPr sz="1600">
                <a:solidFill>
                  <a:srgbClr val="222222"/>
                </a:solidFill>
                <a:latin typeface="맑은 고딕"/>
              </a:rPr>
              <a:t>6. 최종 문서 저장 (hwpx, PDF)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모듈별 함수 정리</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지금까지 만든 핵심 함수 목록</a:t>
            </a:r>
          </a:p>
        </p:txBody>
      </p:sp>
      <p:graphicFrame>
        <p:nvGraphicFramePr>
          <p:cNvPr id="5" name="Table 4"/>
          <p:cNvGraphicFramePr>
            <a:graphicFrameLocks noGrp="1"/>
          </p:cNvGraphicFramePr>
          <p:nvPr/>
        </p:nvGraphicFramePr>
        <p:xfrm>
          <a:off x="457200" y="1828800"/>
          <a:ext cx="11277294" cy="4622800"/>
        </p:xfrm>
        <a:graphic>
          <a:graphicData uri="http://schemas.openxmlformats.org/drawingml/2006/table">
            <a:tbl>
              <a:tblPr firstRow="1" bandRow="1">
                <a:tableStyleId>{5C22544A-7EE6-4342-B048-85BDC9FD1C3A}</a:tableStyleId>
              </a:tblPr>
              <a:tblGrid>
                <a:gridCol w="5638647"/>
                <a:gridCol w="5638647"/>
              </a:tblGrid>
              <a:tr h="330200">
                <a:tc>
                  <a:txBody>
                    <a:bodyPr/>
                    <a:lstStyle/>
                    <a:p>
                      <a:pPr>
                        <a:defRPr sz="1200" b="1">
                          <a:solidFill>
                            <a:srgbClr val="FFFFFF"/>
                          </a:solidFill>
                          <a:latin typeface="맑은 고딕"/>
                        </a:defRPr>
                      </a:pPr>
                      <a:r>
                        <a:t>단계</a:t>
                      </a:r>
                    </a:p>
                  </a:txBody>
                  <a:tcPr>
                    <a:solidFill>
                      <a:srgbClr val="1F3A5F"/>
                    </a:solidFill>
                  </a:tcPr>
                </a:tc>
                <a:tc>
                  <a:txBody>
                    <a:bodyPr/>
                    <a:lstStyle/>
                    <a:p>
                      <a:pPr>
                        <a:defRPr sz="1200" b="1">
                          <a:solidFill>
                            <a:srgbClr val="FFFFFF"/>
                          </a:solidFill>
                          <a:latin typeface="맑은 고딕"/>
                        </a:defRPr>
                      </a:pPr>
                      <a:r>
                        <a:t>함수명</a:t>
                      </a:r>
                    </a:p>
                  </a:txBody>
                  <a:tcPr>
                    <a:solidFill>
                      <a:srgbClr val="1F3A5F"/>
                    </a:solidFill>
                  </a:tcPr>
                </a:tc>
              </a:tr>
              <a:tr h="330200">
                <a:tc>
                  <a:txBody>
                    <a:bodyPr/>
                    <a:lstStyle/>
                    <a:p>
                      <a:pPr>
                        <a:defRPr sz="1200">
                          <a:solidFill>
                            <a:srgbClr val="222222"/>
                          </a:solidFill>
                          <a:latin typeface="맑은 고딕"/>
                        </a:defRPr>
                      </a:pPr>
                      <a:r>
                        <a:t>입력</a:t>
                      </a:r>
                    </a:p>
                  </a:txBody>
                  <a:tcPr/>
                </a:tc>
                <a:tc>
                  <a:txBody>
                    <a:bodyPr/>
                    <a:lstStyle/>
                    <a:p>
                      <a:pPr>
                        <a:defRPr sz="1200">
                          <a:solidFill>
                            <a:srgbClr val="222222"/>
                          </a:solidFill>
                          <a:latin typeface="맑은 고딕"/>
                        </a:defRPr>
                      </a:pPr>
                      <a:r>
                        <a:t>load_input(파일경로)</a:t>
                      </a:r>
                    </a:p>
                  </a:txBody>
                  <a:tcPr/>
                </a:tc>
              </a:tr>
              <a:tr h="330200">
                <a:tc>
                  <a:txBody>
                    <a:bodyPr/>
                    <a:lstStyle/>
                    <a:p>
                      <a:pPr>
                        <a:defRPr sz="1200">
                          <a:solidFill>
                            <a:srgbClr val="222222"/>
                          </a:solidFill>
                          <a:latin typeface="맑은 고딕"/>
                        </a:defRPr>
                      </a:pPr>
                      <a:r>
                        <a:t>정제</a:t>
                      </a:r>
                    </a:p>
                  </a:txBody>
                  <a:tcPr/>
                </a:tc>
                <a:tc>
                  <a:txBody>
                    <a:bodyPr/>
                    <a:lstStyle/>
                    <a:p>
                      <a:pPr>
                        <a:defRPr sz="1200">
                          <a:solidFill>
                            <a:srgbClr val="222222"/>
                          </a:solidFill>
                          <a:latin typeface="맑은 고딕"/>
                        </a:defRPr>
                      </a:pPr>
                      <a:r>
                        <a:t>clean_and_structure(raw)</a:t>
                      </a:r>
                    </a:p>
                  </a:txBody>
                  <a:tcPr/>
                </a:tc>
              </a:tr>
              <a:tr h="330200">
                <a:tc>
                  <a:txBody>
                    <a:bodyPr/>
                    <a:lstStyle/>
                    <a:p>
                      <a:pPr>
                        <a:defRPr sz="1200">
                          <a:solidFill>
                            <a:srgbClr val="222222"/>
                          </a:solidFill>
                          <a:latin typeface="맑은 고딕"/>
                        </a:defRPr>
                      </a:pPr>
                      <a:r>
                        <a:t>NLP 분석 (참고용)</a:t>
                      </a:r>
                    </a:p>
                  </a:txBody>
                  <a:tcPr/>
                </a:tc>
                <a:tc>
                  <a:txBody>
                    <a:bodyPr/>
                    <a:lstStyle/>
                    <a:p>
                      <a:pPr>
                        <a:defRPr sz="1200">
                          <a:solidFill>
                            <a:srgbClr val="222222"/>
                          </a:solidFill>
                          <a:latin typeface="맑은 고딕"/>
                        </a:defRPr>
                      </a:pPr>
                      <a:r>
                        <a:t>analyze_document(text, data)</a:t>
                      </a:r>
                    </a:p>
                  </a:txBody>
                  <a:tcPr/>
                </a:tc>
              </a:tr>
              <a:tr h="330200">
                <a:tc>
                  <a:txBody>
                    <a:bodyPr/>
                    <a:lstStyle/>
                    <a:p>
                      <a:pPr>
                        <a:defRPr sz="1200">
                          <a:solidFill>
                            <a:srgbClr val="222222"/>
                          </a:solidFill>
                          <a:latin typeface="맑은 고딕"/>
                        </a:defRPr>
                      </a:pPr>
                      <a:r>
                        <a:t>참고용 요약 (선택)</a:t>
                      </a:r>
                    </a:p>
                  </a:txBody>
                  <a:tcPr/>
                </a:tc>
                <a:tc>
                  <a:txBody>
                    <a:bodyPr/>
                    <a:lstStyle/>
                    <a:p>
                      <a:pPr>
                        <a:defRPr sz="1200">
                          <a:solidFill>
                            <a:srgbClr val="222222"/>
                          </a:solidFill>
                          <a:latin typeface="맑은 고딕"/>
                        </a:defRPr>
                      </a:pPr>
                      <a:r>
                        <a:t>generate_summary(data) — 사실 확정에는 쓰이지 않으며, 제목후보만 헤드라인 프롬프트에 참고용으로 전달됨</a:t>
                      </a:r>
                    </a:p>
                  </a:txBody>
                  <a:tcPr/>
                </a:tc>
              </a:tr>
              <a:tr h="330200">
                <a:tc>
                  <a:txBody>
                    <a:bodyPr/>
                    <a:lstStyle/>
                    <a:p>
                      <a:pPr>
                        <a:defRPr sz="1200">
                          <a:solidFill>
                            <a:srgbClr val="222222"/>
                          </a:solidFill>
                          <a:latin typeface="맑은 고딕"/>
                        </a:defRPr>
                      </a:pPr>
                      <a:r>
                        <a:t>통계 해석·계산 통합</a:t>
                      </a:r>
                    </a:p>
                  </a:txBody>
                  <a:tcPr/>
                </a:tc>
                <a:tc>
                  <a:txBody>
                    <a:bodyPr/>
                    <a:lstStyle/>
                    <a:p>
                      <a:pPr>
                        <a:defRPr sz="1200">
                          <a:solidFill>
                            <a:srgbClr val="222222"/>
                          </a:solidFill>
                          <a:latin typeface="맑은 고딕"/>
                        </a:defRPr>
                      </a:pPr>
                      <a:r>
                        <a:t>add_calculated_indicators(data) (내부에서 detect_special_points, generate_interpretation 호출)</a:t>
                      </a:r>
                    </a:p>
                  </a:txBody>
                  <a:tcPr/>
                </a:tc>
              </a:tr>
              <a:tr h="330200">
                <a:tc>
                  <a:txBody>
                    <a:bodyPr/>
                    <a:lstStyle/>
                    <a:p>
                      <a:pPr>
                        <a:defRPr sz="1200">
                          <a:solidFill>
                            <a:srgbClr val="222222"/>
                          </a:solidFill>
                          <a:latin typeface="맑은 고딕"/>
                        </a:defRPr>
                      </a:pPr>
                      <a:r>
                        <a:t>역대최대·추세·증감률 자동 계산</a:t>
                      </a:r>
                    </a:p>
                  </a:txBody>
                  <a:tcPr/>
                </a:tc>
                <a:tc>
                  <a:txBody>
                    <a:bodyPr/>
                    <a:lstStyle/>
                    <a:p>
                      <a:pPr>
                        <a:defRPr sz="1200">
                          <a:solidFill>
                            <a:srgbClr val="222222"/>
                          </a:solidFill>
                          <a:latin typeface="맑은 고딕"/>
                        </a:defRPr>
                      </a:pPr>
                      <a:r>
                        <a:t>derive_history_indicators(history, current_ym, current_value) — xlsx "이력" 시트가 있을 때 load_input이 자동 호출</a:t>
                      </a:r>
                    </a:p>
                  </a:txBody>
                  <a:tcPr/>
                </a:tc>
              </a:tr>
              <a:tr h="330200">
                <a:tc>
                  <a:txBody>
                    <a:bodyPr/>
                    <a:lstStyle/>
                    <a:p>
                      <a:pPr>
                        <a:defRPr sz="1200">
                          <a:solidFill>
                            <a:srgbClr val="222222"/>
                          </a:solidFill>
                          <a:latin typeface="맑은 고딕"/>
                        </a:defRPr>
                      </a:pPr>
                      <a:r>
                        <a:t>원자료 집계 (표본 데이터 전용)</a:t>
                      </a:r>
                    </a:p>
                  </a:txBody>
                  <a:tcPr/>
                </a:tc>
                <a:tc>
                  <a:txBody>
                    <a:bodyPr/>
                    <a:lstStyle/>
                    <a:p>
                      <a:pPr>
                        <a:defRPr sz="1200">
                          <a:solidFill>
                            <a:srgbClr val="222222"/>
                          </a:solidFill>
                          <a:latin typeface="맑은 고딕"/>
                        </a:defRPr>
                      </a:pPr>
                      <a:r>
                        <a:t>aggregate_sample_sales(표본매출), build_indicators(표본매출, 이력, current_ym) — 이미 계산된 표가 아니라 집계 전 개별 신고 데이터에서 시작할 때 사용</a:t>
                      </a:r>
                    </a:p>
                  </a:txBody>
                  <a:tcPr/>
                </a:tc>
              </a:tr>
              <a:tr h="330200">
                <a:tc>
                  <a:txBody>
                    <a:bodyPr/>
                    <a:lstStyle/>
                    <a:p>
                      <a:pPr>
                        <a:defRPr sz="1200">
                          <a:solidFill>
                            <a:srgbClr val="222222"/>
                          </a:solidFill>
                          <a:latin typeface="맑은 고딕"/>
                        </a:defRPr>
                      </a:pPr>
                      <a:r>
                        <a:t>그래프·설명 통합</a:t>
                      </a:r>
                    </a:p>
                  </a:txBody>
                  <a:tcPr/>
                </a:tc>
                <a:tc>
                  <a:txBody>
                    <a:bodyPr/>
                    <a:lstStyle/>
                    <a:p>
                      <a:pPr>
                        <a:defRPr sz="1200">
                          <a:solidFill>
                            <a:srgbClr val="222222"/>
                          </a:solidFill>
                          <a:latin typeface="맑은 고딕"/>
                        </a:defRPr>
                      </a:pPr>
                      <a:r>
                        <a:t>build_visual_descriptions(data) (내부에서 generate_chart_description 호출)</a:t>
                      </a:r>
                    </a:p>
                  </a:txBody>
                  <a:tcPr/>
                </a:tc>
              </a:tr>
              <a:tr h="330200">
                <a:tc>
                  <a:txBody>
                    <a:bodyPr/>
                    <a:lstStyle/>
                    <a:p>
                      <a:pPr>
                        <a:defRPr sz="1200">
                          <a:solidFill>
                            <a:srgbClr val="222222"/>
                          </a:solidFill>
                          <a:latin typeface="맑은 고딕"/>
                        </a:defRPr>
                      </a:pPr>
                      <a:r>
                        <a:t>헤드라인 생성</a:t>
                      </a:r>
                    </a:p>
                  </a:txBody>
                  <a:tcPr/>
                </a:tc>
                <a:tc>
                  <a:txBody>
                    <a:bodyPr/>
                    <a:lstStyle/>
                    <a:p>
                      <a:pPr>
                        <a:defRPr sz="1200">
                          <a:solidFill>
                            <a:srgbClr val="222222"/>
                          </a:solidFill>
                          <a:latin typeface="맑은 고딕"/>
                        </a:defRPr>
                      </a:pPr>
                      <a:r>
                        <a:t>generate_headline_set(data) (내부에서 build_headline_prompt 호출)</a:t>
                      </a:r>
                    </a:p>
                  </a:txBody>
                  <a:tcPr/>
                </a:tc>
              </a:tr>
              <a:tr h="330200">
                <a:tc>
                  <a:txBody>
                    <a:bodyPr/>
                    <a:lstStyle/>
                    <a:p>
                      <a:pPr>
                        <a:defRPr sz="1200">
                          <a:solidFill>
                            <a:srgbClr val="222222"/>
                          </a:solidFill>
                          <a:latin typeface="맑은 고딕"/>
                        </a:defRPr>
                      </a:pPr>
                      <a:r>
                        <a:t>본문 생성 통합</a:t>
                      </a:r>
                    </a:p>
                  </a:txBody>
                  <a:tcPr/>
                </a:tc>
                <a:tc>
                  <a:txBody>
                    <a:bodyPr/>
                    <a:lstStyle/>
                    <a:p>
                      <a:pPr>
                        <a:defRPr sz="1200">
                          <a:solidFill>
                            <a:srgbClr val="222222"/>
                          </a:solidFill>
                          <a:latin typeface="맑은 고딕"/>
                        </a:defRPr>
                      </a:pPr>
                      <a:r>
                        <a:t>generate_body_paragraphs(data) (내부에서 expand_to_paragraph 반복 호출)</a:t>
                      </a:r>
                    </a:p>
                  </a:txBody>
                  <a:tcPr/>
                </a:tc>
              </a:tr>
              <a:tr h="330200">
                <a:tc>
                  <a:txBody>
                    <a:bodyPr/>
                    <a:lstStyle/>
                    <a:p>
                      <a:pPr>
                        <a:defRPr sz="1200">
                          <a:solidFill>
                            <a:srgbClr val="222222"/>
                          </a:solidFill>
                          <a:latin typeface="맑은 고딕"/>
                        </a:defRPr>
                      </a:pPr>
                      <a:r>
                        <a:t>문체 통일·자동 검수</a:t>
                      </a:r>
                    </a:p>
                  </a:txBody>
                  <a:tcPr/>
                </a:tc>
                <a:tc>
                  <a:txBody>
                    <a:bodyPr/>
                    <a:lstStyle/>
                    <a:p>
                      <a:pPr>
                        <a:defRPr sz="1200">
                          <a:solidFill>
                            <a:srgbClr val="222222"/>
                          </a:solidFill>
                          <a:latin typeface="맑은 고딕"/>
                        </a:defRPr>
                      </a:pPr>
                      <a:r>
                        <a:t>assemble_full_text(data), unify_style(text), check_formatting_errors(text), cross_check_all_numbers(text, data)</a:t>
                      </a:r>
                    </a:p>
                  </a:txBody>
                  <a:tcPr/>
                </a:tc>
              </a:tr>
              <a:tr h="330200">
                <a:tc>
                  <a:txBody>
                    <a:bodyPr/>
                    <a:lstStyle/>
                    <a:p>
                      <a:pPr>
                        <a:defRPr sz="1200">
                          <a:solidFill>
                            <a:srgbClr val="222222"/>
                          </a:solidFill>
                          <a:latin typeface="맑은 고딕"/>
                        </a:defRPr>
                      </a:pPr>
                      <a:r>
                        <a:t>AI 감수</a:t>
                      </a:r>
                    </a:p>
                  </a:txBody>
                  <a:tcPr/>
                </a:tc>
                <a:tc>
                  <a:txBody>
                    <a:bodyPr/>
                    <a:lstStyle/>
                    <a:p>
                      <a:pPr>
                        <a:defRPr sz="1200">
                          <a:solidFill>
                            <a:srgbClr val="222222"/>
                          </a:solidFill>
                          <a:latin typeface="맑은 고딕"/>
                        </a:defRPr>
                      </a:pPr>
                      <a:r>
                        <a:t>review_press_release(text, data)</a:t>
                      </a:r>
                    </a:p>
                  </a:txBody>
                  <a:tcPr/>
                </a:tc>
              </a:tr>
              <a:tr h="330200">
                <a:tc>
                  <a:txBody>
                    <a:bodyPr/>
                    <a:lstStyle/>
                    <a:p>
                      <a:pPr>
                        <a:defRPr sz="1200">
                          <a:solidFill>
                            <a:srgbClr val="222222"/>
                          </a:solidFill>
                          <a:latin typeface="맑은 고딕"/>
                        </a:defRPr>
                      </a:pPr>
                      <a:r>
                        <a:t>저장</a:t>
                      </a:r>
                    </a:p>
                  </a:txBody>
                  <a:tcPr/>
                </a:tc>
                <a:tc>
                  <a:txBody>
                    <a:bodyPr/>
                    <a:lstStyle/>
                    <a:p>
                      <a:pPr>
                        <a:defRPr sz="1200">
                          <a:solidFill>
                            <a:srgbClr val="222222"/>
                          </a:solidFill>
                          <a:latin typeface="맑은 고딕"/>
                        </a:defRPr>
                      </a:pPr>
                      <a:r>
                        <a:t>save_final_document(data)</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메인 실행 스크립트 설계</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main.py 전체 구조 개요</a:t>
            </a:r>
          </a:p>
        </p:txBody>
      </p:sp>
      <p:sp>
        <p:nvSpPr>
          <p:cNvPr id="5" name="TextBox 4"/>
          <p:cNvSpPr txBox="1"/>
          <p:nvPr/>
        </p:nvSpPr>
        <p:spPr>
          <a:xfrm>
            <a:off x="457200" y="1828800"/>
            <a:ext cx="11277295" cy="44043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main(파일경로: str):</a:t>
            </a:r>
          </a:p>
          <a:p>
            <a:pPr>
              <a:spcAft>
                <a:spcPts val="0"/>
              </a:spcAft>
            </a:pPr>
            <a:r>
              <a:rPr sz="1100">
                <a:solidFill>
                  <a:srgbClr val="333333"/>
                </a:solidFill>
                <a:latin typeface="맑은 고딕"/>
              </a:rPr>
              <a:t>    # 1. 입력</a:t>
            </a:r>
          </a:p>
          <a:p>
            <a:pPr>
              <a:spcAft>
                <a:spcPts val="0"/>
              </a:spcAft>
            </a:pPr>
            <a:r>
              <a:rPr sz="1100">
                <a:solidFill>
                  <a:srgbClr val="333333"/>
                </a:solidFill>
                <a:latin typeface="맑은 고딕"/>
              </a:rPr>
              <a:t>    raw_data = load_input(파일경로)</a:t>
            </a:r>
          </a:p>
          <a:p>
            <a:pPr>
              <a:spcAft>
                <a:spcPts val="0"/>
              </a:spcAft>
            </a:pPr>
            <a:r>
              <a:rPr sz="1100">
                <a:solidFill>
                  <a:srgbClr val="333333"/>
                </a:solidFill>
                <a:latin typeface="맑은 고딕"/>
              </a:rPr>
              <a:t>    # 2. 정제</a:t>
            </a:r>
          </a:p>
          <a:p>
            <a:pPr>
              <a:spcAft>
                <a:spcPts val="0"/>
              </a:spcAft>
            </a:pPr>
            <a:r>
              <a:rPr sz="1100">
                <a:solidFill>
                  <a:srgbClr val="333333"/>
                </a:solidFill>
                <a:latin typeface="맑은 고딕"/>
              </a:rPr>
              <a:t>    data = clean_and_structure(raw_data)</a:t>
            </a:r>
          </a:p>
          <a:p>
            <a:pPr>
              <a:spcAft>
                <a:spcPts val="0"/>
              </a:spcAft>
            </a:pPr>
            <a:r>
              <a:rPr sz="1100">
                <a:solidFill>
                  <a:srgbClr val="333333"/>
                </a:solidFill>
                <a:latin typeface="맑은 고딕"/>
              </a:rPr>
              <a:t>    # 3. NLP 분석 + 계산 + 그래프 설명 (수치는 프로그램이 계산, AI는 문장만 담당)</a:t>
            </a:r>
          </a:p>
          <a:p>
            <a:pPr>
              <a:spcAft>
                <a:spcPts val="0"/>
              </a:spcAft>
            </a:pPr>
            <a:r>
              <a:rPr sz="1100">
                <a:solidFill>
                  <a:srgbClr val="333333"/>
                </a:solidFill>
                <a:latin typeface="맑은 고딕"/>
              </a:rPr>
              <a:t>    data = analyze_document(data["원문"], data)</a:t>
            </a:r>
          </a:p>
          <a:p>
            <a:pPr>
              <a:spcAft>
                <a:spcPts val="0"/>
              </a:spcAft>
            </a:pPr>
            <a:r>
              <a:rPr sz="1100">
                <a:solidFill>
                  <a:srgbClr val="333333"/>
                </a:solidFill>
                <a:latin typeface="맑은 고딕"/>
              </a:rPr>
              <a:t>    data = add_calculated_indicators(data)</a:t>
            </a:r>
          </a:p>
          <a:p>
            <a:pPr>
              <a:spcAft>
                <a:spcPts val="0"/>
              </a:spcAft>
            </a:pPr>
            <a:r>
              <a:rPr sz="1100">
                <a:solidFill>
                  <a:srgbClr val="333333"/>
                </a:solidFill>
                <a:latin typeface="맑은 고딕"/>
              </a:rPr>
              <a:t>    if "품목별지표" in data or "월별이력" in data:</a:t>
            </a:r>
          </a:p>
          <a:p>
            <a:pPr>
              <a:spcAft>
                <a:spcPts val="0"/>
              </a:spcAft>
            </a:pPr>
            <a:r>
              <a:rPr sz="1100">
                <a:solidFill>
                  <a:srgbClr val="333333"/>
                </a:solidFill>
                <a:latin typeface="맑은 고딕"/>
              </a:rPr>
              <a:t>        data["시각자료설명"] = build_visual_descriptions(data)</a:t>
            </a:r>
          </a:p>
          <a:p>
            <a:pPr>
              <a:spcAft>
                <a:spcPts val="0"/>
              </a:spcAft>
            </a:pPr>
            <a:r>
              <a:rPr sz="1100">
                <a:solidFill>
                  <a:srgbClr val="333333"/>
                </a:solidFill>
                <a:latin typeface="맑은 고딕"/>
              </a:rPr>
              <a:t>    # 4. AI 작성 (참고용 요약 + 헤드라인 + 본문)</a:t>
            </a:r>
          </a:p>
          <a:p>
            <a:pPr>
              <a:spcAft>
                <a:spcPts val="0"/>
              </a:spcAft>
            </a:pPr>
            <a:r>
              <a:rPr sz="1100">
                <a:solidFill>
                  <a:srgbClr val="333333"/>
                </a:solidFill>
                <a:latin typeface="맑은 고딕"/>
              </a:rPr>
              <a:t>    data["요약결과"] = generate_summary(data)</a:t>
            </a:r>
          </a:p>
          <a:p>
            <a:pPr>
              <a:spcAft>
                <a:spcPts val="0"/>
              </a:spcAft>
            </a:pPr>
            <a:r>
              <a:rPr sz="1100">
                <a:solidFill>
                  <a:srgbClr val="333333"/>
                </a:solidFill>
                <a:latin typeface="맑은 고딕"/>
              </a:rPr>
              <a:t>    data["헤드라인"] = generate_headline_set(data)</a:t>
            </a:r>
          </a:p>
          <a:p>
            <a:pPr>
              <a:spcAft>
                <a:spcPts val="0"/>
              </a:spcAft>
            </a:pPr>
            <a:r>
              <a:rPr sz="1100">
                <a:solidFill>
                  <a:srgbClr val="333333"/>
                </a:solidFill>
                <a:latin typeface="맑은 고딕"/>
              </a:rPr>
              <a:t>    data["본문"] = generate_body_paragraphs(data)</a:t>
            </a:r>
          </a:p>
          <a:p>
            <a:pPr>
              <a:spcAft>
                <a:spcPts val="0"/>
              </a:spcAft>
            </a:pPr>
            <a:r>
              <a:rPr sz="1100">
                <a:solidFill>
                  <a:srgbClr val="333333"/>
                </a:solidFill>
                <a:latin typeface="맑은 고딕"/>
              </a:rPr>
              <a:t>    # 5. 검수 (자동 수치·표기 교차 검증 + AI 감수, 처음에 배운 3단계 안전장치)</a:t>
            </a:r>
          </a:p>
          <a:p>
            <a:pPr>
              <a:spcAft>
                <a:spcPts val="0"/>
              </a:spcAft>
            </a:pPr>
            <a:r>
              <a:rPr sz="1100">
                <a:solidFill>
                  <a:srgbClr val="333333"/>
                </a:solidFill>
                <a:latin typeface="맑은 고딕"/>
              </a:rPr>
              <a:t>    data["최종본"] = unify_style(assemble_full_text(data))</a:t>
            </a:r>
          </a:p>
          <a:p>
            <a:pPr>
              <a:spcAft>
                <a:spcPts val="0"/>
              </a:spcAft>
            </a:pPr>
            <a:r>
              <a:rPr sz="1100">
                <a:solidFill>
                  <a:srgbClr val="333333"/>
                </a:solidFill>
                <a:latin typeface="맑은 고딕"/>
              </a:rPr>
              <a:t>    data["검수결과"] = {</a:t>
            </a:r>
          </a:p>
          <a:p>
            <a:pPr>
              <a:spcAft>
                <a:spcPts val="0"/>
              </a:spcAft>
            </a:pPr>
            <a:r>
              <a:rPr sz="1100">
                <a:solidFill>
                  <a:srgbClr val="333333"/>
                </a:solidFill>
                <a:latin typeface="맑은 고딕"/>
              </a:rPr>
              <a:t>        "표기오류검사": check_formatting_errors(data["최종본"]),</a:t>
            </a:r>
          </a:p>
          <a:p>
            <a:pPr>
              <a:spcAft>
                <a:spcPts val="0"/>
              </a:spcAft>
            </a:pPr>
            <a:r>
              <a:rPr sz="1100">
                <a:solidFill>
                  <a:srgbClr val="333333"/>
                </a:solidFill>
                <a:latin typeface="맑은 고딕"/>
              </a:rPr>
              <a:t>        "수치교차검증": cross_check_all_numbers(data["최종본"], data),</a:t>
            </a:r>
          </a:p>
          <a:p>
            <a:pPr>
              <a:spcAft>
                <a:spcPts val="0"/>
              </a:spcAft>
            </a:pPr>
            <a:r>
              <a:rPr sz="1100">
                <a:solidFill>
                  <a:srgbClr val="333333"/>
                </a:solidFill>
                <a:latin typeface="맑은 고딕"/>
              </a:rPr>
              <a:t>        "AI감수지적사항": review_press_release(data["최종본"], data),</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 6. 저장</a:t>
            </a:r>
          </a:p>
          <a:p>
            <a:pPr>
              <a:spcAft>
                <a:spcPts val="0"/>
              </a:spcAft>
            </a:pPr>
            <a:r>
              <a:rPr sz="1100">
                <a:solidFill>
                  <a:srgbClr val="333333"/>
                </a:solidFill>
                <a:latin typeface="맑은 고딕"/>
              </a:rPr>
              <a:t>    save_final_document(data)</a:t>
            </a:r>
          </a:p>
          <a:p>
            <a:pPr>
              <a:spcAft>
                <a:spcPts val="0"/>
              </a:spcAft>
            </a:pPr>
            <a:r>
              <a:rPr sz="1100">
                <a:solidFill>
                  <a:srgbClr val="333333"/>
                </a:solidFill>
                <a:latin typeface="맑은 고딕"/>
              </a:rPr>
              <a:t>    return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2. 분석·요약·작성·검수 기능 통합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입력부터 출력까지 전체 파이프라인 실행</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전체 파이프라인 실행 코드</a:t>
            </a:r>
          </a:p>
        </p:txBody>
      </p:sp>
      <p:sp>
        <p:nvSpPr>
          <p:cNvPr id="5" name="TextBox 4"/>
          <p:cNvSpPr txBox="1"/>
          <p:nvPr/>
        </p:nvSpPr>
        <p:spPr>
          <a:xfrm>
            <a:off x="457200" y="1828800"/>
            <a:ext cx="11277295" cy="2092959"/>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import os</a:t>
            </a:r>
          </a:p>
          <a:p>
            <a:pPr>
              <a:spcAft>
                <a:spcPts val="0"/>
              </a:spcAft>
            </a:pPr>
            <a:r>
              <a:rPr sz="1100">
                <a:solidFill>
                  <a:srgbClr val="333333"/>
                </a:solidFill>
                <a:latin typeface="맑은 고딕"/>
              </a:rPr>
              <a:t>from dotenv import load_dotenv</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load_dotenv()</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if __name__ == "__main__":</a:t>
            </a:r>
          </a:p>
          <a:p>
            <a:pPr>
              <a:spcAft>
                <a:spcPts val="0"/>
              </a:spcAft>
            </a:pPr>
            <a:r>
              <a:rPr sz="1100">
                <a:solidFill>
                  <a:srgbClr val="333333"/>
                </a:solidFill>
                <a:latin typeface="맑은 고딕"/>
              </a:rPr>
              <a:t>    결과 = main("data/온라인쇼핑동향_2026_01.xlsx")</a:t>
            </a:r>
          </a:p>
          <a:p>
            <a:pPr>
              <a:spcAft>
                <a:spcPts val="0"/>
              </a:spcAft>
            </a:pPr>
            <a:r>
              <a:rPr sz="1100">
                <a:solidFill>
                  <a:srgbClr val="333333"/>
                </a:solidFill>
                <a:latin typeface="맑은 고딕"/>
              </a:rPr>
              <a:t>    print("=== 최종 보도자료 ===")</a:t>
            </a:r>
          </a:p>
          <a:p>
            <a:pPr>
              <a:spcAft>
                <a:spcPts val="0"/>
              </a:spcAft>
            </a:pPr>
            <a:r>
              <a:rPr sz="1100">
                <a:solidFill>
                  <a:srgbClr val="333333"/>
                </a:solidFill>
                <a:latin typeface="맑은 고딕"/>
              </a:rPr>
              <a:t>    print(결과["최종본"])</a:t>
            </a:r>
          </a:p>
          <a:p>
            <a:pPr>
              <a:spcAft>
                <a:spcPts val="0"/>
              </a:spcAft>
            </a:pPr>
            <a:r>
              <a:rPr sz="1100">
                <a:solidFill>
                  <a:srgbClr val="333333"/>
                </a:solidFill>
                <a:latin typeface="맑은 고딕"/>
              </a:rPr>
              <a:t>    print("수치 교차 검증 통과 여부:", 결과["검수결과"]["수치교차검증"]["통과"])</a:t>
            </a:r>
          </a:p>
          <a:p>
            <a:pPr>
              <a:spcAft>
                <a:spcPts val="0"/>
              </a:spcAft>
            </a:pPr>
            <a:r>
              <a:rPr sz="1100">
                <a:solidFill>
                  <a:srgbClr val="333333"/>
                </a:solidFill>
                <a:latin typeface="맑은 고딕"/>
              </a:rPr>
              <a:t>    print("표기 오류 검사:", 결과["검수결과"]["표기오류검사"])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에러 처리 및 로깅 설계</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안정적인 시스템을 위한 예외 처리</a:t>
            </a:r>
          </a:p>
        </p:txBody>
      </p:sp>
      <p:sp>
        <p:nvSpPr>
          <p:cNvPr id="5" name="TextBox 4"/>
          <p:cNvSpPr txBox="1"/>
          <p:nvPr/>
        </p:nvSpPr>
        <p:spPr>
          <a:xfrm>
            <a:off x="457200" y="1828800"/>
            <a:ext cx="11277295" cy="26263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import os</a:t>
            </a:r>
          </a:p>
          <a:p>
            <a:pPr>
              <a:spcAft>
                <a:spcPts val="0"/>
              </a:spcAft>
            </a:pPr>
            <a:r>
              <a:rPr sz="1100">
                <a:solidFill>
                  <a:srgbClr val="333333"/>
                </a:solidFill>
                <a:latin typeface="맑은 고딕"/>
              </a:rPr>
              <a:t>import logging</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os.makedirs("logs", exist_ok=True)  # logs 폴더가 없으면 FileNotFoundError 발생 방지</a:t>
            </a:r>
          </a:p>
          <a:p>
            <a:pPr>
              <a:spcAft>
                <a:spcPts val="0"/>
              </a:spcAft>
            </a:pPr>
            <a:r>
              <a:rPr sz="1100">
                <a:solidFill>
                  <a:srgbClr val="333333"/>
                </a:solidFill>
                <a:latin typeface="맑은 고딕"/>
              </a:rPr>
              <a:t>logging.basicConfig(filename="logs/pipeline.log", level=logging.INFO, encoding="utf-8")</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main(파일경로: str):</a:t>
            </a:r>
          </a:p>
          <a:p>
            <a:pPr>
              <a:spcAft>
                <a:spcPts val="0"/>
              </a:spcAft>
            </a:pPr>
            <a:r>
              <a:rPr sz="1100">
                <a:solidFill>
                  <a:srgbClr val="333333"/>
                </a:solidFill>
                <a:latin typeface="맑은 고딕"/>
              </a:rPr>
              <a:t>    try:</a:t>
            </a:r>
          </a:p>
          <a:p>
            <a:pPr>
              <a:spcAft>
                <a:spcPts val="0"/>
              </a:spcAft>
            </a:pPr>
            <a:r>
              <a:rPr sz="1100">
                <a:solidFill>
                  <a:srgbClr val="333333"/>
                </a:solidFill>
                <a:latin typeface="맑은 고딕"/>
              </a:rPr>
              <a:t>        logging.info(f"파이프라인 시작: {파일경로}")</a:t>
            </a:r>
          </a:p>
          <a:p>
            <a:pPr>
              <a:spcAft>
                <a:spcPts val="0"/>
              </a:spcAft>
            </a:pPr>
            <a:r>
              <a:rPr sz="1100">
                <a:solidFill>
                  <a:srgbClr val="333333"/>
                </a:solidFill>
                <a:latin typeface="맑은 고딕"/>
              </a:rPr>
              <a:t>        # ... 각 단계 실행 ...</a:t>
            </a:r>
          </a:p>
          <a:p>
            <a:pPr>
              <a:spcAft>
                <a:spcPts val="0"/>
              </a:spcAft>
            </a:pPr>
            <a:r>
              <a:rPr sz="1100">
                <a:solidFill>
                  <a:srgbClr val="333333"/>
                </a:solidFill>
                <a:latin typeface="맑은 고딕"/>
              </a:rPr>
              <a:t>        logging.info("파이프라인 완료")</a:t>
            </a:r>
          </a:p>
          <a:p>
            <a:pPr>
              <a:spcAft>
                <a:spcPts val="0"/>
              </a:spcAft>
            </a:pPr>
            <a:r>
              <a:rPr sz="1100">
                <a:solidFill>
                  <a:srgbClr val="333333"/>
                </a:solidFill>
                <a:latin typeface="맑은 고딕"/>
              </a:rPr>
              <a:t>    except Exception as e:</a:t>
            </a:r>
          </a:p>
          <a:p>
            <a:pPr>
              <a:spcAft>
                <a:spcPts val="0"/>
              </a:spcAft>
            </a:pPr>
            <a:r>
              <a:rPr sz="1100">
                <a:solidFill>
                  <a:srgbClr val="333333"/>
                </a:solidFill>
                <a:latin typeface="맑은 고딕"/>
              </a:rPr>
              <a:t>        logging.error(f"오류 발생: {e}")</a:t>
            </a:r>
          </a:p>
          <a:p>
            <a:pPr>
              <a:spcAft>
                <a:spcPts val="0"/>
              </a:spcAft>
            </a:pPr>
            <a:r>
              <a:rPr sz="1100">
                <a:solidFill>
                  <a:srgbClr val="333333"/>
                </a:solidFill>
                <a:latin typeface="맑은 고딕"/>
              </a:rPr>
              <a:t>        raise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최종 문서 저장, hwpx PDF 변환 개요</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최종 문서 저장 함수 개요</a:t>
            </a:r>
          </a:p>
        </p:txBody>
      </p:sp>
      <p:sp>
        <p:nvSpPr>
          <p:cNvPr id="5" name="TextBox 4"/>
          <p:cNvSpPr txBox="1"/>
          <p:nvPr/>
        </p:nvSpPr>
        <p:spPr>
          <a:xfrm>
            <a:off x="457200" y="1828800"/>
            <a:ext cx="11277295" cy="12039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save_final_document(data: dict):</a:t>
            </a:r>
          </a:p>
          <a:p>
            <a:pPr>
              <a:spcAft>
                <a:spcPts val="0"/>
              </a:spcAft>
            </a:pPr>
            <a:r>
              <a:rPr sz="1100">
                <a:solidFill>
                  <a:srgbClr val="333333"/>
                </a:solidFill>
                <a:latin typeface="맑은 고딕"/>
              </a:rPr>
              <a:t>    os.makedirs("output", exist_ok=True)  # output 폴더가 없으면 FileNotFoundError 발생 방지</a:t>
            </a:r>
          </a:p>
          <a:p>
            <a:pPr>
              <a:spcAft>
                <a:spcPts val="0"/>
              </a:spcAft>
            </a:pPr>
            <a:r>
              <a:rPr sz="1100">
                <a:solidFill>
                  <a:srgbClr val="333333"/>
                </a:solidFill>
                <a:latin typeface="맑은 고딕"/>
              </a:rPr>
              <a:t>    with open(f"output/{data['문서정보']['제목']}.txt", "w", encoding="utf-8") as f:</a:t>
            </a:r>
          </a:p>
          <a:p>
            <a:pPr>
              <a:spcAft>
                <a:spcPts val="0"/>
              </a:spcAft>
            </a:pPr>
            <a:r>
              <a:rPr sz="1100">
                <a:solidFill>
                  <a:srgbClr val="333333"/>
                </a:solidFill>
                <a:latin typeface="맑은 고딕"/>
              </a:rPr>
              <a:t>        f.write(data["최종본"])</a:t>
            </a:r>
          </a:p>
          <a:p>
            <a:pPr>
              <a:spcAft>
                <a:spcPts val="0"/>
              </a:spcAft>
            </a:pPr>
            <a:r>
              <a:rPr sz="1100">
                <a:solidFill>
                  <a:srgbClr val="333333"/>
                </a:solidFill>
                <a:latin typeface="맑은 고딕"/>
              </a:rPr>
              <a:t>    # 실무에서는 python-docx, hwpx 라이브러리 등을 활용해</a:t>
            </a:r>
          </a:p>
          <a:p>
            <a:pPr>
              <a:spcAft>
                <a:spcPts val="0"/>
              </a:spcAft>
            </a:pPr>
            <a:r>
              <a:rPr sz="1100">
                <a:solidFill>
                  <a:srgbClr val="333333"/>
                </a:solidFill>
                <a:latin typeface="맑은 고딕"/>
              </a:rPr>
              <a:t>    # 공식 보도자료 서식(제목, 로고, 표, 그래프 삽입)에 맞춰 최종 변환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실행 결과 예시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터미널 실행 결과 로그</a:t>
            </a:r>
          </a:p>
        </p:txBody>
      </p:sp>
      <p:sp>
        <p:nvSpPr>
          <p:cNvPr id="5" name="TextBox 4"/>
          <p:cNvSpPr txBox="1"/>
          <p:nvPr/>
        </p:nvSpPr>
        <p:spPr>
          <a:xfrm>
            <a:off x="457200" y="1828800"/>
            <a:ext cx="11277295" cy="13817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 최종 보도자료 ===</a:t>
            </a:r>
          </a:p>
          <a:p>
            <a:pPr>
              <a:spcAft>
                <a:spcPts val="0"/>
              </a:spcAft>
            </a:pPr>
            <a:r>
              <a:rPr sz="1100">
                <a:solidFill>
                  <a:srgbClr val="333333"/>
                </a:solidFill>
                <a:latin typeface="맑은 고딕"/>
              </a:rPr>
              <a:t>통계청은 2026년 1월 온라인쇼핑 거래액이 201,250억 원으로 집계되었다고 밝혔다.</a:t>
            </a:r>
          </a:p>
          <a:p>
            <a:pPr>
              <a:spcAft>
                <a:spcPts val="0"/>
              </a:spcAft>
            </a:pPr>
            <a:r>
              <a:rPr sz="1100">
                <a:solidFill>
                  <a:srgbClr val="333333"/>
                </a:solidFill>
                <a:latin typeface="맑은 고딕"/>
              </a:rPr>
              <a:t>이는 전월 대비 1.5%, 전년동월대비 8.7% 증가한 수치이다. 이로써 온라인쇼핑</a:t>
            </a:r>
          </a:p>
          <a:p>
            <a:pPr>
              <a:spcAft>
                <a:spcPts val="0"/>
              </a:spcAft>
            </a:pPr>
            <a:r>
              <a:rPr sz="1100">
                <a:solidFill>
                  <a:srgbClr val="333333"/>
                </a:solidFill>
                <a:latin typeface="맑은 고딕"/>
              </a:rPr>
              <a:t>거래액은 역대 1월 기준 최대치를 기록하였다. ...(중략)...</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수치 교차 검증 통과 여부: True</a:t>
            </a:r>
          </a:p>
          <a:p>
            <a:pPr>
              <a:spcAft>
                <a:spcPts val="0"/>
              </a:spcAft>
            </a:pPr>
            <a:r>
              <a:rPr sz="1100">
                <a:solidFill>
                  <a:srgbClr val="333333"/>
                </a:solidFill>
                <a:latin typeface="맑은 고딕"/>
              </a:rPr>
              <a:t>표기 오류 검사: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시스템 확장 방향</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향후 확장 가능한 방향</a:t>
            </a:r>
          </a:p>
          <a:p>
            <a:pPr>
              <a:spcAft>
                <a:spcPts val="600"/>
              </a:spcAft>
            </a:pPr>
            <a:r>
              <a:rPr sz="1600">
                <a:solidFill>
                  <a:srgbClr val="222222"/>
                </a:solidFill>
                <a:latin typeface="맑은 고딕"/>
              </a:rPr>
              <a:t>• 다른 통계표 적용: 온라인쇼핑 동향 외에 물가, 수출입 등 다른 통계에도 동일한 파이프라인 재사용</a:t>
            </a:r>
          </a:p>
          <a:p>
            <a:pPr>
              <a:spcAft>
                <a:spcPts val="600"/>
              </a:spcAft>
            </a:pPr>
            <a:r>
              <a:rPr sz="1600">
                <a:solidFill>
                  <a:srgbClr val="222222"/>
                </a:solidFill>
                <a:latin typeface="맑은 고딕"/>
              </a:rPr>
              <a:t>• 배치 처리: 여러 개의 파일을 한 번에 처리하는 반복 실행 기능 추가</a:t>
            </a:r>
          </a:p>
          <a:p>
            <a:pPr>
              <a:spcAft>
                <a:spcPts val="600"/>
              </a:spcAft>
            </a:pPr>
            <a:r>
              <a:rPr sz="1600">
                <a:solidFill>
                  <a:srgbClr val="222222"/>
                </a:solidFill>
                <a:latin typeface="맑은 고딕"/>
              </a:rPr>
              <a:t>• 웹 인터페이스 연동: 담당자가 파일을 업로드하면 결과를 웹 화면에서 확인하는 형태로 발전</a:t>
            </a:r>
          </a:p>
          <a:p>
            <a:pPr>
              <a:spcAft>
                <a:spcPts val="600"/>
              </a:spcAft>
            </a:pPr>
            <a:r>
              <a:rPr sz="1600">
                <a:solidFill>
                  <a:srgbClr val="222222"/>
                </a:solidFill>
                <a:latin typeface="맑은 고딕"/>
              </a:rPr>
              <a:t>이 시스템의 세 가지 진입점 비교</a:t>
            </a:r>
          </a:p>
        </p:txBody>
      </p:sp>
      <p:graphicFrame>
        <p:nvGraphicFramePr>
          <p:cNvPr id="5" name="Table 4"/>
          <p:cNvGraphicFramePr>
            <a:graphicFrameLocks noGrp="1"/>
          </p:cNvGraphicFramePr>
          <p:nvPr/>
        </p:nvGraphicFramePr>
        <p:xfrm>
          <a:off x="457200" y="3139440"/>
          <a:ext cx="11277292" cy="1320800"/>
        </p:xfrm>
        <a:graphic>
          <a:graphicData uri="http://schemas.openxmlformats.org/drawingml/2006/table">
            <a:tbl>
              <a:tblPr firstRow="1" bandRow="1">
                <a:tableStyleId>{5C22544A-7EE6-4342-B048-85BDC9FD1C3A}</a:tableStyleId>
              </a:tblPr>
              <a:tblGrid>
                <a:gridCol w="2819323"/>
                <a:gridCol w="2819323"/>
                <a:gridCol w="2819323"/>
                <a:gridCol w="2819323"/>
              </a:tblGrid>
              <a:tr h="330200">
                <a:tc>
                  <a:txBody>
                    <a:bodyPr/>
                    <a:lstStyle/>
                    <a:p>
                      <a:pPr>
                        <a:defRPr sz="1200" b="1">
                          <a:solidFill>
                            <a:srgbClr val="FFFFFF"/>
                          </a:solidFill>
                          <a:latin typeface="맑은 고딕"/>
                        </a:defRPr>
                      </a:pPr>
                      <a:r>
                        <a:t>진입점</a:t>
                      </a:r>
                    </a:p>
                  </a:txBody>
                  <a:tcPr>
                    <a:solidFill>
                      <a:srgbClr val="1F3A5F"/>
                    </a:solidFill>
                  </a:tcPr>
                </a:tc>
                <a:tc>
                  <a:txBody>
                    <a:bodyPr/>
                    <a:lstStyle/>
                    <a:p>
                      <a:pPr>
                        <a:defRPr sz="1200" b="1">
                          <a:solidFill>
                            <a:srgbClr val="FFFFFF"/>
                          </a:solidFill>
                          <a:latin typeface="맑은 고딕"/>
                        </a:defRPr>
                      </a:pPr>
                      <a:r>
                        <a:t>원자료 상태</a:t>
                      </a:r>
                    </a:p>
                  </a:txBody>
                  <a:tcPr>
                    <a:solidFill>
                      <a:srgbClr val="1F3A5F"/>
                    </a:solidFill>
                  </a:tcPr>
                </a:tc>
                <a:tc>
                  <a:txBody>
                    <a:bodyPr/>
                    <a:lstStyle/>
                    <a:p>
                      <a:pPr>
                        <a:defRPr sz="1200" b="1">
                          <a:solidFill>
                            <a:srgbClr val="FFFFFF"/>
                          </a:solidFill>
                          <a:latin typeface="맑은 고딕"/>
                        </a:defRPr>
                      </a:pPr>
                      <a:r>
                        <a:t>"계산" 단계가 하는 일</a:t>
                      </a:r>
                    </a:p>
                  </a:txBody>
                  <a:tcPr>
                    <a:solidFill>
                      <a:srgbClr val="1F3A5F"/>
                    </a:solidFill>
                  </a:tcPr>
                </a:tc>
                <a:tc>
                  <a:txBody>
                    <a:bodyPr/>
                    <a:lstStyle/>
                    <a:p>
                      <a:pPr>
                        <a:defRPr sz="1200" b="1">
                          <a:solidFill>
                            <a:srgbClr val="FFFFFF"/>
                          </a:solidFill>
                          <a:latin typeface="맑은 고딕"/>
                        </a:defRPr>
                      </a:pPr>
                      <a:r>
                        <a:t>재사용 여부</a:t>
                      </a:r>
                    </a:p>
                  </a:txBody>
                  <a:tcPr>
                    <a:solidFill>
                      <a:srgbClr val="1F3A5F"/>
                    </a:solidFill>
                  </a:tcPr>
                </a:tc>
              </a:tr>
              <a:tr h="330200">
                <a:tc>
                  <a:txBody>
                    <a:bodyPr/>
                    <a:lstStyle/>
                    <a:p>
                      <a:pPr>
                        <a:defRPr sz="1200">
                          <a:solidFill>
                            <a:srgbClr val="222222"/>
                          </a:solidFill>
                          <a:latin typeface="맑은 고딕"/>
                        </a:defRPr>
                      </a:pPr>
                      <a:r>
                        <a:t>main.py</a:t>
                      </a:r>
                    </a:p>
                  </a:txBody>
                  <a:tcPr/>
                </a:tc>
                <a:tc>
                  <a:txBody>
                    <a:bodyPr/>
                    <a:lstStyle/>
                    <a:p>
                      <a:pPr>
                        <a:defRPr sz="1200">
                          <a:solidFill>
                            <a:srgbClr val="222222"/>
                          </a:solidFill>
                          <a:latin typeface="맑은 고딕"/>
                        </a:defRPr>
                      </a:pPr>
                      <a:r>
                        <a:t>이미 계산된 표 (온라인쇼핑 동향)</a:t>
                      </a:r>
                    </a:p>
                  </a:txBody>
                  <a:tcPr/>
                </a:tc>
                <a:tc>
                  <a:txBody>
                    <a:bodyPr/>
                    <a:lstStyle/>
                    <a:p>
                      <a:pPr>
                        <a:defRPr sz="1200">
                          <a:solidFill>
                            <a:srgbClr val="222222"/>
                          </a:solidFill>
                          <a:latin typeface="맑은 고딕"/>
                        </a:defRPr>
                      </a:pPr>
                      <a:r>
                        <a:t>특이점 판별·해석문장 생성만</a:t>
                      </a:r>
                    </a:p>
                  </a:txBody>
                  <a:tcPr/>
                </a:tc>
                <a:tc>
                  <a:txBody>
                    <a:bodyPr/>
                    <a:lstStyle/>
                    <a:p>
                      <a:pPr>
                        <a:defRPr sz="1200">
                          <a:solidFill>
                            <a:srgbClr val="222222"/>
                          </a:solidFill>
                          <a:latin typeface="맑은 고딕"/>
                        </a:defRPr>
                      </a:pPr>
                      <a:r>
                        <a:t>—</a:t>
                      </a:r>
                    </a:p>
                  </a:txBody>
                  <a:tcPr/>
                </a:tc>
              </a:tr>
              <a:tr h="330200">
                <a:tc>
                  <a:txBody>
                    <a:bodyPr/>
                    <a:lstStyle/>
                    <a:p>
                      <a:pPr>
                        <a:defRPr sz="1200">
                          <a:solidFill>
                            <a:srgbClr val="222222"/>
                          </a:solidFill>
                          <a:latin typeface="맑은 고딕"/>
                        </a:defRPr>
                      </a:pPr>
                      <a:r>
                        <a:t>main_price.py</a:t>
                      </a:r>
                    </a:p>
                  </a:txBody>
                  <a:tcPr/>
                </a:tc>
                <a:tc>
                  <a:txBody>
                    <a:bodyPr/>
                    <a:lstStyle/>
                    <a:p>
                      <a:pPr>
                        <a:defRPr sz="1200">
                          <a:solidFill>
                            <a:srgbClr val="222222"/>
                          </a:solidFill>
                          <a:latin typeface="맑은 고딕"/>
                        </a:defRPr>
                      </a:pPr>
                      <a:r>
                        <a:t>진짜 원자료 (공공데이터포털 개별 상품 가격)</a:t>
                      </a:r>
                    </a:p>
                  </a:txBody>
                  <a:tcPr/>
                </a:tc>
                <a:tc>
                  <a:txBody>
                    <a:bodyPr/>
                    <a:lstStyle/>
                    <a:p>
                      <a:pPr>
                        <a:defRPr sz="1200">
                          <a:solidFill>
                            <a:srgbClr val="222222"/>
                          </a:solidFill>
                          <a:latin typeface="맑은 고딕"/>
                        </a:defRPr>
                      </a:pPr>
                      <a:r>
                        <a:t>평균가격·증감률 계산부터 전부</a:t>
                      </a:r>
                    </a:p>
                  </a:txBody>
                  <a:tcPr/>
                </a:tc>
                <a:tc>
                  <a:txBody>
                    <a:bodyPr/>
                    <a:lstStyle/>
                    <a:p>
                      <a:pPr>
                        <a:defRPr sz="1200">
                          <a:solidFill>
                            <a:srgbClr val="222222"/>
                          </a:solidFill>
                          <a:latin typeface="맑은 고딕"/>
                        </a:defRPr>
                      </a:pPr>
                      <a:r>
                        <a:t>그래프·헤드라인·본문·검수 재사용, 계산 로직만 새로 작성</a:t>
                      </a:r>
                    </a:p>
                  </a:txBody>
                  <a:tcPr/>
                </a:tc>
              </a:tr>
              <a:tr h="330200">
                <a:tc>
                  <a:txBody>
                    <a:bodyPr/>
                    <a:lstStyle/>
                    <a:p>
                      <a:pPr>
                        <a:defRPr sz="1200">
                          <a:solidFill>
                            <a:srgbClr val="222222"/>
                          </a:solidFill>
                          <a:latin typeface="맑은 고딕"/>
                        </a:defRPr>
                      </a:pPr>
                      <a:r>
                        <a:t>main_practice.py</a:t>
                      </a:r>
                    </a:p>
                  </a:txBody>
                  <a:tcPr/>
                </a:tc>
                <a:tc>
                  <a:txBody>
                    <a:bodyPr/>
                    <a:lstStyle/>
                    <a:p>
                      <a:pPr>
                        <a:defRPr sz="1200">
                          <a:solidFill>
                            <a:srgbClr val="222222"/>
                          </a:solidFill>
                          <a:latin typeface="맑은 고딕"/>
                        </a:defRPr>
                      </a:pPr>
                      <a:r>
                        <a:t>합성 원자료 (표본 사업체 매출 신고)</a:t>
                      </a:r>
                    </a:p>
                  </a:txBody>
                  <a:tcPr/>
                </a:tc>
                <a:tc>
                  <a:txBody>
                    <a:bodyPr/>
                    <a:lstStyle/>
                    <a:p>
                      <a:pPr>
                        <a:defRPr sz="1200">
                          <a:solidFill>
                            <a:srgbClr val="222222"/>
                          </a:solidFill>
                          <a:latin typeface="맑은 고딕"/>
                        </a:defRPr>
                      </a:pPr>
                      <a:r>
                        <a:t>품목별 집계·증감률 계산부터 전부</a:t>
                      </a:r>
                    </a:p>
                  </a:txBody>
                  <a:tcPr/>
                </a:tc>
                <a:tc>
                  <a:txBody>
                    <a:bodyPr/>
                    <a:lstStyle/>
                    <a:p>
                      <a:pPr>
                        <a:defRPr sz="1200">
                          <a:solidFill>
                            <a:srgbClr val="222222"/>
                          </a:solidFill>
                          <a:latin typeface="맑은 고딕"/>
                        </a:defRPr>
                      </a:pPr>
                      <a:r>
                        <a:t>위와 동일한 원칙, 계산 로직만 새로 작성</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운영 시 주의사항, 보안 체크리스트 최종 재확인</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시스템 운영 전 최종 점검 (처음에 배운 보안 원칙 재확인)</a:t>
            </a:r>
          </a:p>
          <a:p>
            <a:pPr>
              <a:spcAft>
                <a:spcPts val="600"/>
              </a:spcAft>
            </a:pPr>
            <a:r>
              <a:rPr sz="1600">
                <a:solidFill>
                  <a:srgbClr val="222222"/>
                </a:solidFill>
                <a:latin typeface="맑은 고딕"/>
              </a:rPr>
              <a:t>1. API 비밀키가 .env로 안전하게 관리되고 있는가</a:t>
            </a:r>
          </a:p>
          <a:p>
            <a:pPr>
              <a:spcAft>
                <a:spcPts val="600"/>
              </a:spcAft>
            </a:pPr>
            <a:r>
              <a:rPr sz="1600">
                <a:solidFill>
                  <a:srgbClr val="222222"/>
                </a:solidFill>
                <a:latin typeface="맑은 고딕"/>
              </a:rPr>
              <a:t>2. 미공개 통계 데이터가 외부로 유출될 경로가 없는가</a:t>
            </a:r>
          </a:p>
          <a:p>
            <a:pPr>
              <a:spcAft>
                <a:spcPts val="600"/>
              </a:spcAft>
            </a:pPr>
            <a:r>
              <a:rPr sz="1600">
                <a:solidFill>
                  <a:srgbClr val="222222"/>
                </a:solidFill>
                <a:latin typeface="맑은 고딕"/>
              </a:rPr>
              <a:t>3. 개인정보 마스킹 전처리가 파이프라인에 포함되어 있는가</a:t>
            </a:r>
          </a:p>
          <a:p>
            <a:pPr>
              <a:spcAft>
                <a:spcPts val="600"/>
              </a:spcAft>
            </a:pPr>
            <a:r>
              <a:rPr sz="1600">
                <a:solidFill>
                  <a:srgbClr val="222222"/>
                </a:solidFill>
                <a:latin typeface="맑은 고딕"/>
              </a:rPr>
              <a:t>4. 자동 생성된 최종본에 대해 사람의 최종 승인 절차가 남아있는가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정리하기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5029200"/>
          </a:xfrm>
          <a:prstGeom prst="rect">
            <a:avLst/>
          </a:prstGeom>
          <a:noFill/>
        </p:spPr>
        <p:txBody>
          <a:bodyPr wrap="square">
            <a:noAutofit/>
          </a:bodyPr>
          <a:lstStyle/>
          <a:p>
            <a:pPr>
              <a:spcAft>
                <a:spcPts val="600"/>
              </a:spcAft>
            </a:pPr>
            <a:r>
              <a:rPr sz="1600">
                <a:solidFill>
                  <a:srgbClr val="222222"/>
                </a:solidFill>
                <a:latin typeface="맑은 고딕"/>
              </a:rPr>
              <a:t>1. 전체 파이프라인의 6단계 구조를 하나의 main 함수로 통합</a:t>
            </a:r>
          </a:p>
          <a:p>
            <a:pPr lvl="1">
              <a:spcAft>
                <a:spcPts val="600"/>
              </a:spcAft>
            </a:pPr>
            <a:r>
              <a:rPr sz="1400">
                <a:solidFill>
                  <a:srgbClr val="222222"/>
                </a:solidFill>
                <a:latin typeface="맑은 고딕"/>
              </a:rPr>
              <a:t>• 입력, 정제, 계산, AI 작성, 검증, 저장까지 여섯 단계를 하나의 실행 스크립트로 연결해서, 원자료 파일 하나만 입력하면 검수까지 끝난 보도자료가 자동으로 완성되는 시스템을 만들었습니다.</a:t>
            </a:r>
          </a:p>
          <a:p>
            <a:pPr lvl="1">
              <a:spcAft>
                <a:spcPts val="600"/>
              </a:spcAft>
            </a:pPr>
            <a:r>
              <a:rPr sz="1400">
                <a:solidFill>
                  <a:srgbClr val="222222"/>
                </a:solidFill>
                <a:latin typeface="맑은 고딕"/>
              </a:rPr>
              <a:t>• 실제로 이 시스템을 실행해 결과를 확인하고, 에러 처리와 로깅을 더해 안정적으로 운영할 수 있는 형태로 다듬었습니다.</a:t>
            </a:r>
          </a:p>
          <a:p>
            <a:pPr>
              <a:spcAft>
                <a:spcPts val="600"/>
              </a:spcAft>
            </a:pPr>
            <a:r>
              <a:rPr sz="1600">
                <a:solidFill>
                  <a:srgbClr val="222222"/>
                </a:solidFill>
                <a:latin typeface="맑은 고딕"/>
              </a:rPr>
              <a:t>2. "계산은 프로그램이, 문장은 생성형 AI가" 원칙의 완성</a:t>
            </a:r>
          </a:p>
          <a:p>
            <a:pPr lvl="1">
              <a:spcAft>
                <a:spcPts val="600"/>
              </a:spcAft>
            </a:pPr>
            <a:r>
              <a:rPr sz="1400">
                <a:solidFill>
                  <a:srgbClr val="222222"/>
                </a:solidFill>
                <a:latin typeface="맑은 고딕"/>
              </a:rPr>
              <a:t>• 과정 전체에서 강조해 온 원칙대로, 모든 수치 계산은 파이썬 함수가 전담하고 생성형 AI는 검증된 숫자를 바탕으로 문장만 작성하도록 설계했습니다.</a:t>
            </a:r>
          </a:p>
          <a:p>
            <a:pPr lvl="1">
              <a:spcAft>
                <a:spcPts val="600"/>
              </a:spcAft>
            </a:pPr>
            <a:r>
              <a:rPr sz="1400">
                <a:solidFill>
                  <a:srgbClr val="222222"/>
                </a:solidFill>
                <a:latin typeface="맑은 고딕"/>
              </a:rPr>
              <a:t>• 자동 수치·표기 검증과 AI 감수라는 3단계 안전장치를 최종 시스템에도 그대로 반영해, 사람이 최종 승인하기 전 오류를 최대한 걸러내도록 만들었습니다.</a:t>
            </a:r>
          </a:p>
          <a:p>
            <a:pPr>
              <a:spcAft>
                <a:spcPts val="600"/>
              </a:spcAft>
            </a:pPr>
            <a:r>
              <a:rPr sz="1600">
                <a:solidFill>
                  <a:srgbClr val="222222"/>
                </a:solidFill>
                <a:latin typeface="맑은 고딕"/>
              </a:rPr>
              <a:t>3. 다른 통계표로의 확장과 운영상 주의사항</a:t>
            </a:r>
          </a:p>
          <a:p>
            <a:pPr lvl="1">
              <a:spcAft>
                <a:spcPts val="600"/>
              </a:spcAft>
            </a:pPr>
            <a:r>
              <a:rPr sz="1400">
                <a:solidFill>
                  <a:srgbClr val="222222"/>
                </a:solidFill>
                <a:latin typeface="맑은 고딕"/>
              </a:rPr>
              <a:t>• 표준 데이터 구조(JSON)를 유지하면 검증·작성 단계는 그대로 재사용하고, 계산 단계만 원자료 형태에 맞춰 새로 작성하면 다른 통계표에도 이 시스템을 적용할 수 있음을 확인했습니다.</a:t>
            </a:r>
          </a:p>
          <a:p>
            <a:pPr lvl="1">
              <a:spcAft>
                <a:spcPts val="600"/>
              </a:spcAft>
            </a:pPr>
            <a:r>
              <a:rPr sz="1400">
                <a:solidFill>
                  <a:srgbClr val="222222"/>
                </a:solidFill>
                <a:latin typeface="맑은 고딕"/>
              </a:rPr>
              <a:t>• 자동화가 잘 되어 있더라도 보안 원칙과 사람의 최종 승인 절차는 예외 없이 유지해야 한다는 점을 마지막으로 다시 한번 강조했습니다.</a:t>
            </a:r>
          </a:p>
          <a:p>
            <a:pPr lvl="1">
              <a:spcAft>
                <a:spcPts val="600"/>
              </a:spcAft>
            </a:pPr>
            <a:r>
              <a:rPr sz="1400">
                <a:solidFill>
                  <a:srgbClr val="222222"/>
                </a:solidFill>
                <a:latin typeface="맑은 고딕"/>
              </a:rPr>
              <a:t>• 수고하셨습니다. 지금까지의 모든 차시를 거쳐, 여러분은 "계산은 정밀한 프로그램이, 문장은 생성형 AI가" 담당하는 안전하고 정확한 보도자료 자동화 시스템을 스스로 설계하고 구현할 수 있는 역량을 갖추게 되었습니다.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참고자료</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470400"/>
          </a:xfrm>
          <a:prstGeom prst="rect">
            <a:avLst/>
          </a:prstGeom>
          <a:noFill/>
        </p:spPr>
        <p:txBody>
          <a:bodyPr wrap="square">
            <a:noAutofit/>
          </a:bodyPr>
          <a:lstStyle/>
          <a:p>
            <a:pPr>
              <a:spcAft>
                <a:spcPts val="600"/>
              </a:spcAft>
            </a:pPr>
            <a:r>
              <a:rPr sz="1600">
                <a:solidFill>
                  <a:srgbClr val="222222"/>
                </a:solidFill>
                <a:latin typeface="맑은 고딕"/>
              </a:rPr>
              <a:t>• Anthropic Claude 공식 사용 가이드: https://docs.anthropic.com/</a:t>
            </a:r>
          </a:p>
          <a:p>
            <a:pPr>
              <a:spcAft>
                <a:spcPts val="600"/>
              </a:spcAft>
            </a:pPr>
            <a:r>
              <a:rPr sz="1600">
                <a:solidFill>
                  <a:srgbClr val="222222"/>
                </a:solidFill>
                <a:latin typeface="맑은 고딕"/>
              </a:rPr>
              <a:t>• Claude Code 사용법: https://docs.anthropic.com/claude-code/</a:t>
            </a:r>
          </a:p>
          <a:p>
            <a:pPr>
              <a:spcAft>
                <a:spcPts val="600"/>
              </a:spcAft>
            </a:pPr>
            <a:r>
              <a:rPr sz="1600">
                <a:solidFill>
                  <a:srgbClr val="222222"/>
                </a:solidFill>
                <a:latin typeface="맑은 고딕"/>
              </a:rPr>
              <a:t>• KOSIS 국가통계포털: https://kosis.kr/</a:t>
            </a:r>
          </a:p>
          <a:p>
            <a:pPr>
              <a:spcAft>
                <a:spcPts val="600"/>
              </a:spcAft>
            </a:pPr>
            <a:r>
              <a:rPr sz="1600">
                <a:solidFill>
                  <a:srgbClr val="222222"/>
                </a:solidFill>
                <a:latin typeface="맑은 고딕"/>
              </a:rPr>
              <a:t>• MDIS 마이크로데이터 통합서비스: https://mdis.mods.go.kr/</a:t>
            </a:r>
          </a:p>
          <a:p>
            <a:pPr>
              <a:spcAft>
                <a:spcPts val="600"/>
              </a:spcAft>
            </a:pPr>
            <a:r>
              <a:rPr sz="1600">
                <a:solidFill>
                  <a:srgbClr val="222222"/>
                </a:solidFill>
                <a:latin typeface="맑은 고딕"/>
              </a:rPr>
              <a:t>• SGIS 통계지리정보서비스: https://sgis.mods.go.kr/</a:t>
            </a:r>
          </a:p>
          <a:p>
            <a:pPr>
              <a:spcAft>
                <a:spcPts val="600"/>
              </a:spcAft>
            </a:pPr>
            <a:r>
              <a:rPr sz="1600">
                <a:solidFill>
                  <a:srgbClr val="222222"/>
                </a:solidFill>
                <a:latin typeface="맑은 고딕"/>
              </a:rPr>
              <a:t>• 통계청 공식 홈페이지 (통계 공표 및 보도자료): https://kostat.go.kr/</a:t>
            </a:r>
          </a:p>
          <a:p>
            <a:pPr>
              <a:spcAft>
                <a:spcPts val="600"/>
              </a:spcAft>
            </a:pPr>
            <a:r>
              <a:rPr sz="1600">
                <a:solidFill>
                  <a:srgbClr val="222222"/>
                </a:solidFill>
                <a:latin typeface="맑은 고딕"/>
              </a:rPr>
              <a:t>• 대한민국 정책브리핑 (공공 보도자료 작성 및 브리핑): https://www.korea.kr/</a:t>
            </a:r>
          </a:p>
          <a:p>
            <a:pPr>
              <a:spcAft>
                <a:spcPts val="600"/>
              </a:spcAft>
            </a:pPr>
            <a:r>
              <a:rPr sz="1600">
                <a:solidFill>
                  <a:srgbClr val="222222"/>
                </a:solidFill>
                <a:latin typeface="맑은 고딕"/>
              </a:rPr>
              <a:t>• 국가법령정보센터 (통계법 제27조의2 - 공표 전 통계 보안): https://www.law.go.kr/</a:t>
            </a:r>
          </a:p>
          <a:p>
            <a:pPr>
              <a:spcAft>
                <a:spcPts val="600"/>
              </a:spcAft>
            </a:pPr>
            <a:r>
              <a:rPr sz="1600">
                <a:solidFill>
                  <a:srgbClr val="222222"/>
                </a:solidFill>
                <a:latin typeface="맑은 고딕"/>
              </a:rPr>
              <a:t>• 국가정보원 (국가·공공기관 생성형 AI 활용 보안 가이드라인): https://www.nis.go.kr/</a:t>
            </a:r>
          </a:p>
          <a:p>
            <a:pPr>
              <a:spcAft>
                <a:spcPts val="600"/>
              </a:spcAft>
            </a:pPr>
            <a:r>
              <a:rPr sz="1600">
                <a:solidFill>
                  <a:srgbClr val="222222"/>
                </a:solidFill>
                <a:latin typeface="맑은 고딕"/>
              </a:rPr>
              <a:t>• 개인정보보호위원회 (개인정보 보호 및 마스킹 수칙): https://www.pipc.go.kr/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